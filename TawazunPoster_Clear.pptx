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8288000" cy="25603200"/>
  <p:notesSz cx="256032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40" d="100"/>
          <a:sy n="40" d="100"/>
        </p:scale>
        <p:origin x="1302" y="-2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405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png"/><Relationship Id="rId39" Type="http://schemas.openxmlformats.org/officeDocument/2006/relationships/image" Target="../media/image37.png"/><Relationship Id="rId21" Type="http://schemas.openxmlformats.org/officeDocument/2006/relationships/image" Target="../media/image19.png"/><Relationship Id="rId34" Type="http://schemas.openxmlformats.org/officeDocument/2006/relationships/image" Target="../media/image32.png"/><Relationship Id="rId42" Type="http://schemas.openxmlformats.org/officeDocument/2006/relationships/image" Target="../media/image40.png"/><Relationship Id="rId47" Type="http://schemas.openxmlformats.org/officeDocument/2006/relationships/image" Target="../media/image45.png"/><Relationship Id="rId7" Type="http://schemas.openxmlformats.org/officeDocument/2006/relationships/image" Target="../media/image5.png"/><Relationship Id="rId2" Type="http://schemas.openxmlformats.org/officeDocument/2006/relationships/notesSlide" Target="../notesSlides/notesSlide1.xml"/><Relationship Id="rId16" Type="http://schemas.openxmlformats.org/officeDocument/2006/relationships/image" Target="../media/image14.png"/><Relationship Id="rId29" Type="http://schemas.openxmlformats.org/officeDocument/2006/relationships/image" Target="../media/image27.png"/><Relationship Id="rId11" Type="http://schemas.openxmlformats.org/officeDocument/2006/relationships/image" Target="../media/image9.png"/><Relationship Id="rId24" Type="http://schemas.openxmlformats.org/officeDocument/2006/relationships/image" Target="../media/image22.png"/><Relationship Id="rId32" Type="http://schemas.openxmlformats.org/officeDocument/2006/relationships/image" Target="../media/image30.png"/><Relationship Id="rId37" Type="http://schemas.openxmlformats.org/officeDocument/2006/relationships/image" Target="../media/image35.png"/><Relationship Id="rId40" Type="http://schemas.openxmlformats.org/officeDocument/2006/relationships/image" Target="../media/image38.png"/><Relationship Id="rId45" Type="http://schemas.openxmlformats.org/officeDocument/2006/relationships/image" Target="../media/image43.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png"/><Relationship Id="rId36" Type="http://schemas.openxmlformats.org/officeDocument/2006/relationships/image" Target="../media/image34.png"/><Relationship Id="rId49" Type="http://schemas.openxmlformats.org/officeDocument/2006/relationships/image" Target="../media/image47.png"/><Relationship Id="rId10" Type="http://schemas.openxmlformats.org/officeDocument/2006/relationships/image" Target="../media/image8.png"/><Relationship Id="rId19" Type="http://schemas.openxmlformats.org/officeDocument/2006/relationships/image" Target="../media/image17.png"/><Relationship Id="rId31" Type="http://schemas.openxmlformats.org/officeDocument/2006/relationships/image" Target="../media/image29.png"/><Relationship Id="rId44" Type="http://schemas.openxmlformats.org/officeDocument/2006/relationships/image" Target="../media/image42.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png"/><Relationship Id="rId30" Type="http://schemas.openxmlformats.org/officeDocument/2006/relationships/image" Target="../media/image28.png"/><Relationship Id="rId35" Type="http://schemas.openxmlformats.org/officeDocument/2006/relationships/image" Target="../media/image33.png"/><Relationship Id="rId43" Type="http://schemas.openxmlformats.org/officeDocument/2006/relationships/image" Target="../media/image41.png"/><Relationship Id="rId48" Type="http://schemas.openxmlformats.org/officeDocument/2006/relationships/image" Target="../media/image46.png"/><Relationship Id="rId8" Type="http://schemas.openxmlformats.org/officeDocument/2006/relationships/image" Target="../media/image6.png"/><Relationship Id="rId3" Type="http://schemas.openxmlformats.org/officeDocument/2006/relationships/image" Target="../media/image1.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1.png"/><Relationship Id="rId38" Type="http://schemas.openxmlformats.org/officeDocument/2006/relationships/image" Target="../media/image36.png"/><Relationship Id="rId46" Type="http://schemas.openxmlformats.org/officeDocument/2006/relationships/image" Target="../media/image44.png"/><Relationship Id="rId20" Type="http://schemas.openxmlformats.org/officeDocument/2006/relationships/image" Target="../media/image18.png"/><Relationship Id="rId41"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7"/>
        </a:solidFill>
        <a:effectLst/>
      </p:bgPr>
    </p:bg>
    <p:spTree>
      <p:nvGrpSpPr>
        <p:cNvPr id="1" name=""/>
        <p:cNvGrpSpPr/>
        <p:nvPr/>
      </p:nvGrpSpPr>
      <p:grpSpPr>
        <a:xfrm>
          <a:off x="0" y="0"/>
          <a:ext cx="0" cy="0"/>
          <a:chOff x="0" y="0"/>
          <a:chExt cx="0" cy="0"/>
        </a:xfrm>
      </p:grpSpPr>
      <p:sp>
        <p:nvSpPr>
          <p:cNvPr id="2" name="Shape 0"/>
          <p:cNvSpPr/>
          <p:nvPr/>
        </p:nvSpPr>
        <p:spPr>
          <a:xfrm>
            <a:off x="0" y="-18288"/>
            <a:ext cx="18288000" cy="4114800"/>
          </a:xfrm>
          <a:prstGeom prst="rect">
            <a:avLst/>
          </a:prstGeom>
          <a:solidFill>
            <a:srgbClr val="1B4332"/>
          </a:solidFill>
          <a:ln/>
        </p:spPr>
        <p:txBody>
          <a:bodyPr/>
          <a:lstStyle/>
          <a:p>
            <a:endParaRPr lang="en-GB" dirty="0"/>
          </a:p>
        </p:txBody>
      </p:sp>
      <p:sp>
        <p:nvSpPr>
          <p:cNvPr id="3" name="Text 1"/>
          <p:cNvSpPr/>
          <p:nvPr/>
        </p:nvSpPr>
        <p:spPr>
          <a:xfrm>
            <a:off x="914400" y="365760"/>
            <a:ext cx="9144000" cy="1645920"/>
          </a:xfrm>
          <a:prstGeom prst="rect">
            <a:avLst/>
          </a:prstGeom>
          <a:noFill/>
          <a:ln/>
        </p:spPr>
        <p:txBody>
          <a:bodyPr wrap="square" lIns="0" tIns="0" rIns="0" bIns="0" rtlCol="0" anchor="ctr"/>
          <a:lstStyle/>
          <a:p>
            <a:pPr marL="0" indent="0" algn="l">
              <a:buNone/>
            </a:pPr>
            <a:r>
              <a:rPr lang="en-US" sz="8000" b="1" dirty="0">
                <a:solidFill>
                  <a:srgbClr val="95D5B2"/>
                </a:solidFill>
                <a:latin typeface="Arial" pitchFamily="34" charset="0"/>
                <a:ea typeface="Arial" pitchFamily="34" charset="-122"/>
                <a:cs typeface="Arial" pitchFamily="34" charset="-120"/>
              </a:rPr>
              <a:t>توازن</a:t>
            </a:r>
            <a:endParaRPr lang="en-US" sz="8000" dirty="0"/>
          </a:p>
        </p:txBody>
      </p:sp>
      <p:sp>
        <p:nvSpPr>
          <p:cNvPr id="4" name="Text 2"/>
          <p:cNvSpPr/>
          <p:nvPr/>
        </p:nvSpPr>
        <p:spPr>
          <a:xfrm>
            <a:off x="914400" y="1828800"/>
            <a:ext cx="9144000" cy="914400"/>
          </a:xfrm>
          <a:prstGeom prst="rect">
            <a:avLst/>
          </a:prstGeom>
          <a:noFill/>
          <a:ln/>
        </p:spPr>
        <p:txBody>
          <a:bodyPr wrap="square" lIns="0" tIns="0" rIns="0" bIns="0" rtlCol="0" anchor="ctr"/>
          <a:lstStyle/>
          <a:p>
            <a:pPr marL="0" indent="0" algn="l">
              <a:buNone/>
            </a:pPr>
            <a:r>
              <a:rPr lang="en-US" sz="5200" b="1" kern="0" spc="600" dirty="0">
                <a:solidFill>
                  <a:srgbClr val="FFFFFF"/>
                </a:solidFill>
                <a:latin typeface="Arial Black" pitchFamily="34" charset="0"/>
                <a:ea typeface="Arial Black" pitchFamily="34" charset="-122"/>
                <a:cs typeface="Arial Black" pitchFamily="34" charset="-120"/>
              </a:rPr>
              <a:t>TAWAZUN</a:t>
            </a:r>
            <a:endParaRPr lang="en-US" sz="5200" dirty="0"/>
          </a:p>
        </p:txBody>
      </p:sp>
      <p:sp>
        <p:nvSpPr>
          <p:cNvPr id="5" name="Text 3"/>
          <p:cNvSpPr/>
          <p:nvPr/>
        </p:nvSpPr>
        <p:spPr>
          <a:xfrm>
            <a:off x="914400" y="2743200"/>
            <a:ext cx="9144000" cy="548640"/>
          </a:xfrm>
          <a:prstGeom prst="rect">
            <a:avLst/>
          </a:prstGeom>
          <a:noFill/>
          <a:ln/>
        </p:spPr>
        <p:txBody>
          <a:bodyPr wrap="square" lIns="0" tIns="0" rIns="0" bIns="0" rtlCol="0" anchor="ctr"/>
          <a:lstStyle/>
          <a:p>
            <a:pPr marL="0" indent="0" algn="l">
              <a:buNone/>
            </a:pPr>
            <a:r>
              <a:rPr lang="en-US" sz="2200" i="1" dirty="0">
                <a:solidFill>
                  <a:srgbClr val="95D5B2"/>
                </a:solidFill>
                <a:latin typeface="Georgia" pitchFamily="34" charset="0"/>
                <a:ea typeface="Georgia" pitchFamily="34" charset="-122"/>
                <a:cs typeface="Georgia" pitchFamily="34" charset="-120"/>
              </a:rPr>
              <a:t>Smart Land. Sustainable Future.</a:t>
            </a:r>
            <a:endParaRPr lang="en-US" sz="2200" dirty="0"/>
          </a:p>
        </p:txBody>
      </p:sp>
      <p:sp>
        <p:nvSpPr>
          <p:cNvPr id="6" name="Text 4"/>
          <p:cNvSpPr/>
          <p:nvPr/>
        </p:nvSpPr>
        <p:spPr>
          <a:xfrm>
            <a:off x="11348987" y="504845"/>
            <a:ext cx="6400800" cy="457200"/>
          </a:xfrm>
          <a:prstGeom prst="rect">
            <a:avLst/>
          </a:prstGeom>
          <a:noFill/>
          <a:ln/>
        </p:spPr>
        <p:txBody>
          <a:bodyPr wrap="square" lIns="0" tIns="0" rIns="0" bIns="0" rtlCol="0" anchor="ctr"/>
          <a:lstStyle/>
          <a:p>
            <a:pPr marL="0" indent="0" algn="r">
              <a:buNone/>
            </a:pPr>
            <a:endParaRPr lang="en-US" sz="1800" dirty="0"/>
          </a:p>
        </p:txBody>
      </p:sp>
      <p:sp>
        <p:nvSpPr>
          <p:cNvPr id="7" name="Text 5"/>
          <p:cNvSpPr/>
          <p:nvPr/>
        </p:nvSpPr>
        <p:spPr>
          <a:xfrm>
            <a:off x="11292840" y="2834640"/>
            <a:ext cx="6400800" cy="731520"/>
          </a:xfrm>
          <a:prstGeom prst="rect">
            <a:avLst/>
          </a:prstGeom>
          <a:noFill/>
          <a:ln/>
        </p:spPr>
        <p:txBody>
          <a:bodyPr wrap="square" lIns="0" tIns="0" rIns="0" bIns="0" rtlCol="0" anchor="ctr"/>
          <a:lstStyle/>
          <a:p>
            <a:pPr marL="0" indent="0" algn="ctr">
              <a:buNone/>
            </a:pPr>
            <a:r>
              <a:rPr lang="en-US" sz="1500" b="1" dirty="0">
                <a:solidFill>
                  <a:srgbClr val="95D5B2"/>
                </a:solidFill>
                <a:latin typeface="Arial" pitchFamily="34" charset="0"/>
                <a:ea typeface="Arial" pitchFamily="34" charset="-122"/>
                <a:cs typeface="Arial" pitchFamily="34" charset="-120"/>
              </a:rPr>
              <a:t>                                            </a:t>
            </a:r>
          </a:p>
          <a:p>
            <a:pPr marL="0" indent="0" algn="ctr">
              <a:buNone/>
            </a:pPr>
            <a:r>
              <a:rPr lang="en-US" sz="1500" b="1" dirty="0">
                <a:solidFill>
                  <a:srgbClr val="95D5B2"/>
                </a:solidFill>
                <a:latin typeface="Arial" pitchFamily="34" charset="0"/>
                <a:ea typeface="Arial" pitchFamily="34" charset="-122"/>
                <a:cs typeface="Arial" pitchFamily="34" charset="-120"/>
              </a:rPr>
              <a:t>                                          Jordan University of Science and Technology  </a:t>
            </a:r>
          </a:p>
          <a:p>
            <a:pPr marL="0" indent="0" algn="r">
              <a:buNone/>
            </a:pPr>
            <a:r>
              <a:rPr lang="en-US" sz="1500" dirty="0">
                <a:solidFill>
                  <a:srgbClr val="95D5B2"/>
                </a:solidFill>
                <a:latin typeface="Arial" pitchFamily="34" charset="0"/>
                <a:ea typeface="Arial" pitchFamily="34" charset="-122"/>
                <a:cs typeface="Arial" pitchFamily="34" charset="-120"/>
              </a:rPr>
              <a:t>Fares Alawneh &amp; Mahmoud Alwaqfi</a:t>
            </a:r>
            <a:endParaRPr lang="en-US" sz="1500" dirty="0"/>
          </a:p>
          <a:p>
            <a:pPr marL="0" indent="0" algn="r">
              <a:buNone/>
            </a:pPr>
            <a:r>
              <a:rPr lang="en-US" sz="1500" dirty="0">
                <a:solidFill>
                  <a:srgbClr val="95D5B2"/>
                </a:solidFill>
                <a:latin typeface="Arial" pitchFamily="34" charset="0"/>
                <a:ea typeface="Arial" pitchFamily="34" charset="-122"/>
                <a:cs typeface="Arial" pitchFamily="34" charset="-120"/>
              </a:rPr>
              <a:t>Supervised by: Dr. Malak Abdullah</a:t>
            </a:r>
          </a:p>
        </p:txBody>
      </p:sp>
      <p:sp>
        <p:nvSpPr>
          <p:cNvPr id="9" name="Text 7"/>
          <p:cNvSpPr/>
          <p:nvPr/>
        </p:nvSpPr>
        <p:spPr>
          <a:xfrm>
            <a:off x="15361920" y="2377440"/>
            <a:ext cx="2011680" cy="822960"/>
          </a:xfrm>
          <a:prstGeom prst="rect">
            <a:avLst/>
          </a:prstGeom>
          <a:noFill/>
          <a:ln/>
        </p:spPr>
        <p:txBody>
          <a:bodyPr wrap="square" lIns="0" tIns="0" rIns="0" bIns="0" rtlCol="0" anchor="ctr"/>
          <a:lstStyle/>
          <a:p>
            <a:pPr marL="0" indent="0" algn="ctr">
              <a:buNone/>
            </a:pPr>
            <a:endParaRPr lang="en-US" sz="2000" dirty="0"/>
          </a:p>
        </p:txBody>
      </p:sp>
      <p:pic>
        <p:nvPicPr>
          <p:cNvPr id="10" name="Image 0" descr="preencoded.png"/>
          <p:cNvPicPr>
            <a:picLocks noChangeAspect="1"/>
          </p:cNvPicPr>
          <p:nvPr/>
        </p:nvPicPr>
        <p:blipFill>
          <a:blip r:embed="rId3"/>
          <a:stretch>
            <a:fillRect/>
          </a:stretch>
        </p:blipFill>
        <p:spPr>
          <a:xfrm>
            <a:off x="7772400" y="1657470"/>
            <a:ext cx="731520" cy="731520"/>
          </a:xfrm>
          <a:prstGeom prst="rect">
            <a:avLst/>
          </a:prstGeom>
        </p:spPr>
      </p:pic>
      <p:pic>
        <p:nvPicPr>
          <p:cNvPr id="11" name="Image 1" descr="preencoded.png"/>
          <p:cNvPicPr>
            <a:picLocks noChangeAspect="1"/>
          </p:cNvPicPr>
          <p:nvPr/>
        </p:nvPicPr>
        <p:blipFill>
          <a:blip r:embed="rId4"/>
          <a:stretch>
            <a:fillRect/>
          </a:stretch>
        </p:blipFill>
        <p:spPr>
          <a:xfrm>
            <a:off x="8641882" y="1668780"/>
            <a:ext cx="731520" cy="731520"/>
          </a:xfrm>
          <a:prstGeom prst="rect">
            <a:avLst/>
          </a:prstGeom>
        </p:spPr>
      </p:pic>
      <p:sp>
        <p:nvSpPr>
          <p:cNvPr id="12" name="Shape 8"/>
          <p:cNvSpPr/>
          <p:nvPr/>
        </p:nvSpPr>
        <p:spPr>
          <a:xfrm>
            <a:off x="914400" y="3474720"/>
            <a:ext cx="4572000" cy="0"/>
          </a:xfrm>
          <a:prstGeom prst="line">
            <a:avLst/>
          </a:prstGeom>
          <a:noFill/>
          <a:ln w="38100">
            <a:solidFill>
              <a:srgbClr val="DDA15E"/>
            </a:solidFill>
            <a:prstDash val="solid"/>
          </a:ln>
        </p:spPr>
        <p:txBody>
          <a:bodyPr/>
          <a:lstStyle/>
          <a:p>
            <a:endParaRPr lang="en-GB"/>
          </a:p>
        </p:txBody>
      </p:sp>
      <p:sp>
        <p:nvSpPr>
          <p:cNvPr id="13" name="Shape 9"/>
          <p:cNvSpPr/>
          <p:nvPr/>
        </p:nvSpPr>
        <p:spPr>
          <a:xfrm>
            <a:off x="731520" y="4572000"/>
            <a:ext cx="16824960" cy="2194560"/>
          </a:xfrm>
          <a:prstGeom prst="rect">
            <a:avLst/>
          </a:prstGeom>
          <a:solidFill>
            <a:srgbClr val="F0F4ED"/>
          </a:solidFill>
          <a:ln/>
          <a:effectLst>
            <a:outerShdw blurRad="50800" dist="25400" dir="8100000" algn="bl" rotWithShape="0">
              <a:srgbClr val="000000">
                <a:alpha val="8000"/>
              </a:srgbClr>
            </a:outerShdw>
          </a:effectLst>
        </p:spPr>
        <p:txBody>
          <a:bodyPr/>
          <a:lstStyle/>
          <a:p>
            <a:endParaRPr lang="en-GB"/>
          </a:p>
        </p:txBody>
      </p:sp>
      <p:sp>
        <p:nvSpPr>
          <p:cNvPr id="14" name="Shape 10"/>
          <p:cNvSpPr/>
          <p:nvPr/>
        </p:nvSpPr>
        <p:spPr>
          <a:xfrm>
            <a:off x="731520" y="4572000"/>
            <a:ext cx="109728" cy="2194560"/>
          </a:xfrm>
          <a:prstGeom prst="rect">
            <a:avLst/>
          </a:prstGeom>
          <a:solidFill>
            <a:srgbClr val="40916C"/>
          </a:solidFill>
          <a:ln/>
        </p:spPr>
        <p:txBody>
          <a:bodyPr/>
          <a:lstStyle/>
          <a:p>
            <a:endParaRPr lang="en-GB"/>
          </a:p>
        </p:txBody>
      </p:sp>
      <p:sp>
        <p:nvSpPr>
          <p:cNvPr id="15" name="Text 11"/>
          <p:cNvSpPr/>
          <p:nvPr/>
        </p:nvSpPr>
        <p:spPr>
          <a:xfrm>
            <a:off x="1188720" y="4709160"/>
            <a:ext cx="3657600" cy="457200"/>
          </a:xfrm>
          <a:prstGeom prst="rect">
            <a:avLst/>
          </a:prstGeom>
          <a:noFill/>
          <a:ln/>
        </p:spPr>
        <p:txBody>
          <a:bodyPr wrap="square" lIns="0" tIns="0" rIns="0" bIns="0" rtlCol="0" anchor="ctr"/>
          <a:lstStyle/>
          <a:p>
            <a:pPr marL="0" indent="0" algn="l">
              <a:buNone/>
            </a:pPr>
            <a:r>
              <a:rPr lang="en-US" sz="2200" b="1" dirty="0">
                <a:solidFill>
                  <a:srgbClr val="1B4332"/>
                </a:solidFill>
                <a:latin typeface="Georgia" pitchFamily="34" charset="0"/>
                <a:ea typeface="Georgia" pitchFamily="34" charset="-122"/>
                <a:cs typeface="Georgia" pitchFamily="34" charset="-120"/>
              </a:rPr>
              <a:t>Abstract</a:t>
            </a:r>
            <a:endParaRPr lang="en-US" sz="2200" dirty="0"/>
          </a:p>
        </p:txBody>
      </p:sp>
      <p:sp>
        <p:nvSpPr>
          <p:cNvPr id="16" name="Text 12"/>
          <p:cNvSpPr/>
          <p:nvPr/>
        </p:nvSpPr>
        <p:spPr>
          <a:xfrm>
            <a:off x="1188720" y="5166360"/>
            <a:ext cx="16002000" cy="1371600"/>
          </a:xfrm>
          <a:prstGeom prst="rect">
            <a:avLst/>
          </a:prstGeom>
          <a:noFill/>
          <a:ln/>
        </p:spPr>
        <p:txBody>
          <a:bodyPr wrap="square" lIns="0" tIns="0" rIns="0" bIns="0" rtlCol="0" anchor="ctr"/>
          <a:lstStyle/>
          <a:p>
            <a:pPr marL="0" indent="0" algn="l">
              <a:lnSpc>
                <a:spcPct val="130000"/>
              </a:lnSpc>
              <a:buNone/>
            </a:pPr>
            <a:r>
              <a:rPr lang="en-US" sz="1400" dirty="0">
                <a:solidFill>
                  <a:srgbClr val="2C3E50"/>
                </a:solidFill>
                <a:latin typeface="Arial" pitchFamily="34" charset="0"/>
                <a:ea typeface="Arial" pitchFamily="34" charset="-122"/>
                <a:cs typeface="Arial" pitchFamily="34" charset="-120"/>
              </a:rPr>
              <a:t>The exponential rate of urban encroachment in Jordan presents a severe, irreversible threat to the nation's agricultural sustainability. Tawazun addresses this crisis by deploying an advanced AI-powered diagnostic platform. Through the algorithmic analysis of geospatial and agricultural datasets, Tawazun transforms raw data into actionable intelligence, enabling policymakers and developers to execute sustainable planning that protects critical food sources without stunting necessary growth.</a:t>
            </a:r>
            <a:endParaRPr lang="en-US" sz="1400" dirty="0"/>
          </a:p>
        </p:txBody>
      </p:sp>
      <p:sp>
        <p:nvSpPr>
          <p:cNvPr id="17" name="Shape 13"/>
          <p:cNvSpPr/>
          <p:nvPr/>
        </p:nvSpPr>
        <p:spPr>
          <a:xfrm>
            <a:off x="731520" y="7132320"/>
            <a:ext cx="8046720" cy="47548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18" name="Shape 14"/>
          <p:cNvSpPr/>
          <p:nvPr/>
        </p:nvSpPr>
        <p:spPr>
          <a:xfrm>
            <a:off x="731520" y="7132320"/>
            <a:ext cx="8046720" cy="91440"/>
          </a:xfrm>
          <a:prstGeom prst="rect">
            <a:avLst/>
          </a:prstGeom>
          <a:solidFill>
            <a:srgbClr val="E76F51"/>
          </a:solidFill>
          <a:ln/>
        </p:spPr>
        <p:txBody>
          <a:bodyPr/>
          <a:lstStyle/>
          <a:p>
            <a:endParaRPr lang="en-GB"/>
          </a:p>
        </p:txBody>
      </p:sp>
      <p:pic>
        <p:nvPicPr>
          <p:cNvPr id="19" name="Image 2" descr="preencoded.png"/>
          <p:cNvPicPr>
            <a:picLocks noChangeAspect="1"/>
          </p:cNvPicPr>
          <p:nvPr/>
        </p:nvPicPr>
        <p:blipFill>
          <a:blip r:embed="rId5"/>
          <a:stretch>
            <a:fillRect/>
          </a:stretch>
        </p:blipFill>
        <p:spPr>
          <a:xfrm>
            <a:off x="1188720" y="7452360"/>
            <a:ext cx="502920" cy="502920"/>
          </a:xfrm>
          <a:prstGeom prst="rect">
            <a:avLst/>
          </a:prstGeom>
        </p:spPr>
      </p:pic>
      <p:sp>
        <p:nvSpPr>
          <p:cNvPr id="20" name="Text 15"/>
          <p:cNvSpPr/>
          <p:nvPr/>
        </p:nvSpPr>
        <p:spPr>
          <a:xfrm>
            <a:off x="1828800" y="7406640"/>
            <a:ext cx="5486400" cy="548640"/>
          </a:xfrm>
          <a:prstGeom prst="rect">
            <a:avLst/>
          </a:prstGeom>
          <a:noFill/>
          <a:ln/>
        </p:spPr>
        <p:txBody>
          <a:bodyPr wrap="square" lIns="0" tIns="0" rIns="0" bIns="0" rtlCol="0" anchor="ctr"/>
          <a:lstStyle/>
          <a:p>
            <a:pPr marL="0" indent="0" algn="l">
              <a:buNone/>
            </a:pPr>
            <a:r>
              <a:rPr lang="en-US" sz="2400" b="1" dirty="0">
                <a:solidFill>
                  <a:srgbClr val="E76F51"/>
                </a:solidFill>
                <a:latin typeface="Georgia" pitchFamily="34" charset="0"/>
                <a:ea typeface="Georgia" pitchFamily="34" charset="-122"/>
                <a:cs typeface="Georgia" pitchFamily="34" charset="-120"/>
              </a:rPr>
              <a:t>The Problem</a:t>
            </a:r>
            <a:endParaRPr lang="en-US" sz="2400" dirty="0"/>
          </a:p>
        </p:txBody>
      </p:sp>
      <p:sp>
        <p:nvSpPr>
          <p:cNvPr id="21" name="Text 16"/>
          <p:cNvSpPr/>
          <p:nvPr/>
        </p:nvSpPr>
        <p:spPr>
          <a:xfrm>
            <a:off x="1188720" y="8092440"/>
            <a:ext cx="7132320" cy="640080"/>
          </a:xfrm>
          <a:prstGeom prst="rect">
            <a:avLst/>
          </a:prstGeom>
          <a:noFill/>
          <a:ln/>
        </p:spPr>
        <p:txBody>
          <a:bodyPr wrap="square" lIns="0" tIns="0" rIns="0" bIns="0" rtlCol="0" anchor="ctr"/>
          <a:lstStyle/>
          <a:p>
            <a:pPr marL="0" indent="0">
              <a:lnSpc>
                <a:spcPct val="125000"/>
              </a:lnSpc>
              <a:buNone/>
            </a:pPr>
            <a:r>
              <a:rPr lang="en-US" sz="1300" dirty="0">
                <a:solidFill>
                  <a:srgbClr val="2C3E50"/>
                </a:solidFill>
                <a:latin typeface="Arial" pitchFamily="34" charset="0"/>
                <a:ea typeface="Arial" pitchFamily="34" charset="-122"/>
                <a:cs typeface="Arial" pitchFamily="34" charset="-120"/>
              </a:rPr>
              <a:t>Unregulated urban sprawl is rapidly devouring Jordan's finite agricultural land, causing a ripple effect of crises:</a:t>
            </a:r>
            <a:endParaRPr lang="en-US" sz="1300" dirty="0"/>
          </a:p>
        </p:txBody>
      </p:sp>
      <p:pic>
        <p:nvPicPr>
          <p:cNvPr id="22" name="Image 3" descr="preencoded.png"/>
          <p:cNvPicPr>
            <a:picLocks noChangeAspect="1"/>
          </p:cNvPicPr>
          <p:nvPr/>
        </p:nvPicPr>
        <p:blipFill>
          <a:blip r:embed="rId6"/>
          <a:stretch>
            <a:fillRect/>
          </a:stretch>
        </p:blipFill>
        <p:spPr>
          <a:xfrm>
            <a:off x="1371600" y="8897112"/>
            <a:ext cx="274320" cy="274320"/>
          </a:xfrm>
          <a:prstGeom prst="rect">
            <a:avLst/>
          </a:prstGeom>
        </p:spPr>
      </p:pic>
      <p:sp>
        <p:nvSpPr>
          <p:cNvPr id="23" name="Text 17"/>
          <p:cNvSpPr/>
          <p:nvPr/>
        </p:nvSpPr>
        <p:spPr>
          <a:xfrm>
            <a:off x="1828800" y="8823960"/>
            <a:ext cx="6583680" cy="411480"/>
          </a:xfrm>
          <a:prstGeom prst="rect">
            <a:avLst/>
          </a:prstGeom>
          <a:noFill/>
          <a:ln/>
        </p:spPr>
        <p:txBody>
          <a:bodyPr wrap="square" lIns="0" tIns="0" rIns="0" bIns="0" rtlCol="0" anchor="ctr"/>
          <a:lstStyle/>
          <a:p>
            <a:pPr marL="0" indent="0" algn="l">
              <a:buNone/>
            </a:pPr>
            <a:r>
              <a:rPr lang="en-US" sz="1250" dirty="0">
                <a:solidFill>
                  <a:srgbClr val="2C3E50"/>
                </a:solidFill>
                <a:latin typeface="Arial" pitchFamily="34" charset="0"/>
                <a:ea typeface="Arial" pitchFamily="34" charset="-122"/>
                <a:cs typeface="Arial" pitchFamily="34" charset="-120"/>
              </a:rPr>
              <a:t>Irreversible loss of fertile soil to concrete</a:t>
            </a:r>
            <a:endParaRPr lang="en-US" sz="1250" dirty="0"/>
          </a:p>
        </p:txBody>
      </p:sp>
      <p:pic>
        <p:nvPicPr>
          <p:cNvPr id="24" name="Image 4" descr="preencoded.png"/>
          <p:cNvPicPr>
            <a:picLocks noChangeAspect="1"/>
          </p:cNvPicPr>
          <p:nvPr/>
        </p:nvPicPr>
        <p:blipFill>
          <a:blip r:embed="rId7"/>
          <a:stretch>
            <a:fillRect/>
          </a:stretch>
        </p:blipFill>
        <p:spPr>
          <a:xfrm>
            <a:off x="1371600" y="9445752"/>
            <a:ext cx="274320" cy="274320"/>
          </a:xfrm>
          <a:prstGeom prst="rect">
            <a:avLst/>
          </a:prstGeom>
        </p:spPr>
      </p:pic>
      <p:sp>
        <p:nvSpPr>
          <p:cNvPr id="25" name="Text 18"/>
          <p:cNvSpPr/>
          <p:nvPr/>
        </p:nvSpPr>
        <p:spPr>
          <a:xfrm>
            <a:off x="1828800" y="9372600"/>
            <a:ext cx="6583680" cy="411480"/>
          </a:xfrm>
          <a:prstGeom prst="rect">
            <a:avLst/>
          </a:prstGeom>
          <a:noFill/>
          <a:ln/>
        </p:spPr>
        <p:txBody>
          <a:bodyPr wrap="square" lIns="0" tIns="0" rIns="0" bIns="0" rtlCol="0" anchor="ctr"/>
          <a:lstStyle/>
          <a:p>
            <a:pPr marL="0" indent="0" algn="l">
              <a:buNone/>
            </a:pPr>
            <a:r>
              <a:rPr lang="en-US" sz="1250" dirty="0">
                <a:solidFill>
                  <a:srgbClr val="2C3E50"/>
                </a:solidFill>
                <a:latin typeface="Arial" pitchFamily="34" charset="0"/>
                <a:ea typeface="Arial" pitchFamily="34" charset="-122"/>
                <a:cs typeface="Arial" pitchFamily="34" charset="-120"/>
              </a:rPr>
              <a:t>Severe threats to national food security</a:t>
            </a:r>
            <a:endParaRPr lang="en-US" sz="1250" dirty="0"/>
          </a:p>
        </p:txBody>
      </p:sp>
      <p:pic>
        <p:nvPicPr>
          <p:cNvPr id="26" name="Image 5" descr="preencoded.png"/>
          <p:cNvPicPr>
            <a:picLocks noChangeAspect="1"/>
          </p:cNvPicPr>
          <p:nvPr/>
        </p:nvPicPr>
        <p:blipFill>
          <a:blip r:embed="rId8"/>
          <a:stretch>
            <a:fillRect/>
          </a:stretch>
        </p:blipFill>
        <p:spPr>
          <a:xfrm>
            <a:off x="1371600" y="9994392"/>
            <a:ext cx="274320" cy="274320"/>
          </a:xfrm>
          <a:prstGeom prst="rect">
            <a:avLst/>
          </a:prstGeom>
        </p:spPr>
      </p:pic>
      <p:sp>
        <p:nvSpPr>
          <p:cNvPr id="27" name="Text 19"/>
          <p:cNvSpPr/>
          <p:nvPr/>
        </p:nvSpPr>
        <p:spPr>
          <a:xfrm>
            <a:off x="1828800" y="9921240"/>
            <a:ext cx="6583680" cy="411480"/>
          </a:xfrm>
          <a:prstGeom prst="rect">
            <a:avLst/>
          </a:prstGeom>
          <a:noFill/>
          <a:ln/>
        </p:spPr>
        <p:txBody>
          <a:bodyPr wrap="square" lIns="0" tIns="0" rIns="0" bIns="0" rtlCol="0" anchor="ctr"/>
          <a:lstStyle/>
          <a:p>
            <a:pPr marL="0" indent="0" algn="l">
              <a:buNone/>
            </a:pPr>
            <a:r>
              <a:rPr lang="en-US" sz="1250" dirty="0">
                <a:solidFill>
                  <a:srgbClr val="2C3E50"/>
                </a:solidFill>
                <a:latin typeface="Arial" pitchFamily="34" charset="0"/>
                <a:ea typeface="Arial" pitchFamily="34" charset="-122"/>
                <a:cs typeface="Arial" pitchFamily="34" charset="-120"/>
              </a:rPr>
              <a:t>Destruction of farming communities &amp; livelihoods</a:t>
            </a:r>
            <a:endParaRPr lang="en-US" sz="1250" dirty="0"/>
          </a:p>
        </p:txBody>
      </p:sp>
      <p:pic>
        <p:nvPicPr>
          <p:cNvPr id="28" name="Image 6" descr="preencoded.png"/>
          <p:cNvPicPr>
            <a:picLocks noChangeAspect="1"/>
          </p:cNvPicPr>
          <p:nvPr/>
        </p:nvPicPr>
        <p:blipFill>
          <a:blip r:embed="rId9"/>
          <a:stretch>
            <a:fillRect/>
          </a:stretch>
        </p:blipFill>
        <p:spPr>
          <a:xfrm>
            <a:off x="1371600" y="10543032"/>
            <a:ext cx="274320" cy="274320"/>
          </a:xfrm>
          <a:prstGeom prst="rect">
            <a:avLst/>
          </a:prstGeom>
        </p:spPr>
      </p:pic>
      <p:sp>
        <p:nvSpPr>
          <p:cNvPr id="29" name="Text 20"/>
          <p:cNvSpPr/>
          <p:nvPr/>
        </p:nvSpPr>
        <p:spPr>
          <a:xfrm>
            <a:off x="1828800" y="10469880"/>
            <a:ext cx="6583680" cy="411480"/>
          </a:xfrm>
          <a:prstGeom prst="rect">
            <a:avLst/>
          </a:prstGeom>
          <a:noFill/>
          <a:ln/>
        </p:spPr>
        <p:txBody>
          <a:bodyPr wrap="square" lIns="0" tIns="0" rIns="0" bIns="0" rtlCol="0" anchor="ctr"/>
          <a:lstStyle/>
          <a:p>
            <a:pPr marL="0" indent="0" algn="l">
              <a:buNone/>
            </a:pPr>
            <a:r>
              <a:rPr lang="en-US" sz="1250" dirty="0">
                <a:solidFill>
                  <a:srgbClr val="2C3E50"/>
                </a:solidFill>
                <a:latin typeface="Arial" pitchFamily="34" charset="0"/>
                <a:ea typeface="Arial" pitchFamily="34" charset="-122"/>
                <a:cs typeface="Arial" pitchFamily="34" charset="-120"/>
              </a:rPr>
              <a:t>Environmental degradation &amp; biodiversity loss</a:t>
            </a:r>
            <a:endParaRPr lang="en-US" sz="1250" dirty="0"/>
          </a:p>
        </p:txBody>
      </p:sp>
      <p:sp>
        <p:nvSpPr>
          <p:cNvPr id="30" name="Shape 21"/>
          <p:cNvSpPr/>
          <p:nvPr/>
        </p:nvSpPr>
        <p:spPr>
          <a:xfrm>
            <a:off x="1188720" y="10927080"/>
            <a:ext cx="2148840" cy="822960"/>
          </a:xfrm>
          <a:prstGeom prst="rect">
            <a:avLst/>
          </a:prstGeom>
          <a:solidFill>
            <a:srgbClr val="FFF0EB"/>
          </a:solidFill>
          <a:ln/>
        </p:spPr>
        <p:txBody>
          <a:bodyPr/>
          <a:lstStyle/>
          <a:p>
            <a:endParaRPr lang="en-GB"/>
          </a:p>
        </p:txBody>
      </p:sp>
      <p:sp>
        <p:nvSpPr>
          <p:cNvPr id="31" name="Text 22"/>
          <p:cNvSpPr/>
          <p:nvPr/>
        </p:nvSpPr>
        <p:spPr>
          <a:xfrm>
            <a:off x="1188720" y="10972800"/>
            <a:ext cx="2148840" cy="347472"/>
          </a:xfrm>
          <a:prstGeom prst="rect">
            <a:avLst/>
          </a:prstGeom>
          <a:noFill/>
          <a:ln/>
        </p:spPr>
        <p:txBody>
          <a:bodyPr wrap="square" lIns="0" tIns="0" rIns="0" bIns="0" rtlCol="0" anchor="ctr"/>
          <a:lstStyle/>
          <a:p>
            <a:pPr marL="0" indent="0" algn="ctr">
              <a:buNone/>
            </a:pPr>
            <a:r>
              <a:rPr lang="en-US" sz="1800" b="1" dirty="0">
                <a:solidFill>
                  <a:srgbClr val="E76F51"/>
                </a:solidFill>
                <a:latin typeface="Arial Black" pitchFamily="34" charset="0"/>
                <a:ea typeface="Arial Black" pitchFamily="34" charset="-122"/>
                <a:cs typeface="Arial Black" pitchFamily="34" charset="-120"/>
              </a:rPr>
              <a:t>10.4%</a:t>
            </a:r>
            <a:endParaRPr lang="en-US" sz="1800" dirty="0"/>
          </a:p>
        </p:txBody>
      </p:sp>
      <p:sp>
        <p:nvSpPr>
          <p:cNvPr id="32" name="Text 23"/>
          <p:cNvSpPr/>
          <p:nvPr/>
        </p:nvSpPr>
        <p:spPr>
          <a:xfrm>
            <a:off x="1188720" y="11338560"/>
            <a:ext cx="2148840" cy="384048"/>
          </a:xfrm>
          <a:prstGeom prst="rect">
            <a:avLst/>
          </a:prstGeom>
          <a:noFill/>
          <a:ln/>
        </p:spPr>
        <p:txBody>
          <a:bodyPr wrap="square" lIns="0" tIns="0" rIns="0" bIns="0" rtlCol="0" anchor="ctr"/>
          <a:lstStyle/>
          <a:p>
            <a:pPr marL="0" indent="0" algn="ctr">
              <a:buNone/>
            </a:pPr>
            <a:r>
              <a:rPr lang="en-US" sz="1300" dirty="0">
                <a:solidFill>
                  <a:srgbClr val="2C3E50"/>
                </a:solidFill>
                <a:latin typeface="Arial" pitchFamily="34" charset="0"/>
                <a:ea typeface="Arial" pitchFamily="34" charset="-122"/>
                <a:cs typeface="Arial" pitchFamily="34" charset="-120"/>
              </a:rPr>
              <a:t>Arable Land of</a:t>
            </a:r>
            <a:endParaRPr lang="en-US" sz="1300" dirty="0"/>
          </a:p>
          <a:p>
            <a:pPr marL="0" indent="0" algn="ctr">
              <a:buNone/>
            </a:pPr>
            <a:r>
              <a:rPr lang="en-US" sz="1300" dirty="0">
                <a:solidFill>
                  <a:srgbClr val="2C3E50"/>
                </a:solidFill>
                <a:latin typeface="Arial" pitchFamily="34" charset="0"/>
                <a:ea typeface="Arial" pitchFamily="34" charset="-122"/>
                <a:cs typeface="Arial" pitchFamily="34" charset="-120"/>
              </a:rPr>
              <a:t>Total Area</a:t>
            </a:r>
            <a:endParaRPr lang="en-US" sz="1300" dirty="0"/>
          </a:p>
        </p:txBody>
      </p:sp>
      <p:sp>
        <p:nvSpPr>
          <p:cNvPr id="33" name="Shape 24"/>
          <p:cNvSpPr/>
          <p:nvPr/>
        </p:nvSpPr>
        <p:spPr>
          <a:xfrm>
            <a:off x="3566160" y="10927080"/>
            <a:ext cx="2148840" cy="822960"/>
          </a:xfrm>
          <a:prstGeom prst="rect">
            <a:avLst/>
          </a:prstGeom>
          <a:solidFill>
            <a:srgbClr val="FFF0EB"/>
          </a:solidFill>
          <a:ln/>
        </p:spPr>
        <p:txBody>
          <a:bodyPr/>
          <a:lstStyle/>
          <a:p>
            <a:endParaRPr lang="en-GB"/>
          </a:p>
        </p:txBody>
      </p:sp>
      <p:sp>
        <p:nvSpPr>
          <p:cNvPr id="34" name="Text 25"/>
          <p:cNvSpPr/>
          <p:nvPr/>
        </p:nvSpPr>
        <p:spPr>
          <a:xfrm>
            <a:off x="3566160" y="10972800"/>
            <a:ext cx="2148840" cy="347472"/>
          </a:xfrm>
          <a:prstGeom prst="rect">
            <a:avLst/>
          </a:prstGeom>
          <a:noFill/>
          <a:ln/>
        </p:spPr>
        <p:txBody>
          <a:bodyPr wrap="square" lIns="0" tIns="0" rIns="0" bIns="0" rtlCol="0" anchor="ctr"/>
          <a:lstStyle/>
          <a:p>
            <a:pPr marL="0" indent="0" algn="ctr">
              <a:buNone/>
            </a:pPr>
            <a:r>
              <a:rPr lang="en-US" sz="1800" b="1" dirty="0">
                <a:solidFill>
                  <a:srgbClr val="E76F51"/>
                </a:solidFill>
                <a:latin typeface="Arial Black" pitchFamily="34" charset="0"/>
                <a:ea typeface="Arial Black" pitchFamily="34" charset="-122"/>
                <a:cs typeface="Arial Black" pitchFamily="34" charset="-120"/>
              </a:rPr>
              <a:t>+143%</a:t>
            </a:r>
            <a:endParaRPr lang="en-US" sz="1800" dirty="0"/>
          </a:p>
        </p:txBody>
      </p:sp>
      <p:sp>
        <p:nvSpPr>
          <p:cNvPr id="35" name="Text 26"/>
          <p:cNvSpPr/>
          <p:nvPr/>
        </p:nvSpPr>
        <p:spPr>
          <a:xfrm>
            <a:off x="3566160" y="11338560"/>
            <a:ext cx="2148840" cy="384048"/>
          </a:xfrm>
          <a:prstGeom prst="rect">
            <a:avLst/>
          </a:prstGeom>
          <a:noFill/>
          <a:ln/>
        </p:spPr>
        <p:txBody>
          <a:bodyPr wrap="square" lIns="0" tIns="0" rIns="0" bIns="0" rtlCol="0" anchor="ctr"/>
          <a:lstStyle/>
          <a:p>
            <a:pPr marL="0" indent="0" algn="ctr">
              <a:buNone/>
            </a:pPr>
            <a:r>
              <a:rPr lang="en-US" sz="1300" dirty="0">
                <a:solidFill>
                  <a:srgbClr val="2C3E50"/>
                </a:solidFill>
                <a:latin typeface="Arial" pitchFamily="34" charset="0"/>
                <a:ea typeface="Arial" pitchFamily="34" charset="-122"/>
                <a:cs typeface="Arial" pitchFamily="34" charset="-120"/>
              </a:rPr>
              <a:t>Urban Growth in</a:t>
            </a:r>
            <a:endParaRPr lang="en-US" sz="1300" dirty="0"/>
          </a:p>
          <a:p>
            <a:pPr marL="0" indent="0" algn="ctr">
              <a:buNone/>
            </a:pPr>
            <a:r>
              <a:rPr lang="en-US" sz="1300" dirty="0">
                <a:solidFill>
                  <a:srgbClr val="2C3E50"/>
                </a:solidFill>
                <a:latin typeface="Arial" pitchFamily="34" charset="0"/>
                <a:ea typeface="Arial" pitchFamily="34" charset="-122"/>
                <a:cs typeface="Arial" pitchFamily="34" charset="-120"/>
              </a:rPr>
              <a:t>Irbid (43 years)</a:t>
            </a:r>
            <a:endParaRPr lang="en-US" sz="1300" dirty="0"/>
          </a:p>
        </p:txBody>
      </p:sp>
      <p:sp>
        <p:nvSpPr>
          <p:cNvPr id="36" name="Shape 27"/>
          <p:cNvSpPr/>
          <p:nvPr/>
        </p:nvSpPr>
        <p:spPr>
          <a:xfrm>
            <a:off x="5943600" y="10927080"/>
            <a:ext cx="2148840" cy="822960"/>
          </a:xfrm>
          <a:prstGeom prst="rect">
            <a:avLst/>
          </a:prstGeom>
          <a:solidFill>
            <a:srgbClr val="FFF0EB"/>
          </a:solidFill>
          <a:ln/>
        </p:spPr>
        <p:txBody>
          <a:bodyPr/>
          <a:lstStyle/>
          <a:p>
            <a:endParaRPr lang="en-GB"/>
          </a:p>
        </p:txBody>
      </p:sp>
      <p:sp>
        <p:nvSpPr>
          <p:cNvPr id="37" name="Text 28"/>
          <p:cNvSpPr/>
          <p:nvPr/>
        </p:nvSpPr>
        <p:spPr>
          <a:xfrm>
            <a:off x="5943600" y="10972800"/>
            <a:ext cx="2148840" cy="347472"/>
          </a:xfrm>
          <a:prstGeom prst="rect">
            <a:avLst/>
          </a:prstGeom>
          <a:noFill/>
          <a:ln/>
        </p:spPr>
        <p:txBody>
          <a:bodyPr wrap="square" lIns="0" tIns="0" rIns="0" bIns="0" rtlCol="0" anchor="ctr"/>
          <a:lstStyle/>
          <a:p>
            <a:pPr marL="0" indent="0" algn="ctr">
              <a:buNone/>
            </a:pPr>
            <a:r>
              <a:rPr lang="en-US" sz="1800" b="1" dirty="0">
                <a:solidFill>
                  <a:srgbClr val="E76F51"/>
                </a:solidFill>
                <a:latin typeface="Arial Black" pitchFamily="34" charset="0"/>
                <a:ea typeface="Arial Black" pitchFamily="34" charset="-122"/>
                <a:cs typeface="Arial Black" pitchFamily="34" charset="-120"/>
              </a:rPr>
              <a:t>18%</a:t>
            </a:r>
            <a:endParaRPr lang="en-US" sz="1800" dirty="0"/>
          </a:p>
        </p:txBody>
      </p:sp>
      <p:sp>
        <p:nvSpPr>
          <p:cNvPr id="38" name="Text 29"/>
          <p:cNvSpPr/>
          <p:nvPr/>
        </p:nvSpPr>
        <p:spPr>
          <a:xfrm>
            <a:off x="5943600" y="11338560"/>
            <a:ext cx="2148840" cy="384048"/>
          </a:xfrm>
          <a:prstGeom prst="rect">
            <a:avLst/>
          </a:prstGeom>
          <a:noFill/>
          <a:ln/>
        </p:spPr>
        <p:txBody>
          <a:bodyPr wrap="square" lIns="0" tIns="0" rIns="0" bIns="0" rtlCol="0" anchor="ctr"/>
          <a:lstStyle/>
          <a:p>
            <a:pPr marL="0" indent="0" algn="ctr">
              <a:buNone/>
            </a:pPr>
            <a:r>
              <a:rPr lang="en-US" sz="1300" dirty="0">
                <a:solidFill>
                  <a:srgbClr val="2C3E50"/>
                </a:solidFill>
                <a:latin typeface="Arial" pitchFamily="34" charset="0"/>
                <a:ea typeface="Arial" pitchFamily="34" charset="-122"/>
                <a:cs typeface="Arial" pitchFamily="34" charset="-120"/>
              </a:rPr>
              <a:t>Farmland Lost</a:t>
            </a:r>
            <a:endParaRPr lang="en-US" sz="1300" dirty="0"/>
          </a:p>
          <a:p>
            <a:pPr marL="0" indent="0" algn="ctr">
              <a:buNone/>
            </a:pPr>
            <a:r>
              <a:rPr lang="en-US" sz="1300" dirty="0">
                <a:solidFill>
                  <a:srgbClr val="2C3E50"/>
                </a:solidFill>
                <a:latin typeface="Arial" pitchFamily="34" charset="0"/>
                <a:ea typeface="Arial" pitchFamily="34" charset="-122"/>
                <a:cs typeface="Arial" pitchFamily="34" charset="-120"/>
              </a:rPr>
              <a:t>by 2015</a:t>
            </a:r>
            <a:endParaRPr lang="en-US" sz="1300" dirty="0"/>
          </a:p>
        </p:txBody>
      </p:sp>
      <p:sp>
        <p:nvSpPr>
          <p:cNvPr id="39" name="Shape 30"/>
          <p:cNvSpPr/>
          <p:nvPr/>
        </p:nvSpPr>
        <p:spPr>
          <a:xfrm>
            <a:off x="9509760" y="7132320"/>
            <a:ext cx="8046720" cy="47548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40" name="Shape 31"/>
          <p:cNvSpPr/>
          <p:nvPr/>
        </p:nvSpPr>
        <p:spPr>
          <a:xfrm>
            <a:off x="9509760" y="7132320"/>
            <a:ext cx="8046720" cy="91440"/>
          </a:xfrm>
          <a:prstGeom prst="rect">
            <a:avLst/>
          </a:prstGeom>
          <a:solidFill>
            <a:srgbClr val="40916C"/>
          </a:solidFill>
          <a:ln/>
        </p:spPr>
        <p:txBody>
          <a:bodyPr/>
          <a:lstStyle/>
          <a:p>
            <a:endParaRPr lang="en-GB"/>
          </a:p>
        </p:txBody>
      </p:sp>
      <p:pic>
        <p:nvPicPr>
          <p:cNvPr id="41" name="Image 7" descr="preencoded.png"/>
          <p:cNvPicPr>
            <a:picLocks noChangeAspect="1"/>
          </p:cNvPicPr>
          <p:nvPr/>
        </p:nvPicPr>
        <p:blipFill>
          <a:blip r:embed="rId10"/>
          <a:stretch>
            <a:fillRect/>
          </a:stretch>
        </p:blipFill>
        <p:spPr>
          <a:xfrm>
            <a:off x="9966960" y="7452360"/>
            <a:ext cx="502920" cy="502920"/>
          </a:xfrm>
          <a:prstGeom prst="rect">
            <a:avLst/>
          </a:prstGeom>
        </p:spPr>
      </p:pic>
      <p:sp>
        <p:nvSpPr>
          <p:cNvPr id="42" name="Text 32"/>
          <p:cNvSpPr/>
          <p:nvPr/>
        </p:nvSpPr>
        <p:spPr>
          <a:xfrm>
            <a:off x="10607040" y="7406640"/>
            <a:ext cx="5486400" cy="548640"/>
          </a:xfrm>
          <a:prstGeom prst="rect">
            <a:avLst/>
          </a:prstGeom>
          <a:noFill/>
          <a:ln/>
        </p:spPr>
        <p:txBody>
          <a:bodyPr wrap="square" lIns="0" tIns="0" rIns="0" bIns="0" rtlCol="0" anchor="ctr"/>
          <a:lstStyle/>
          <a:p>
            <a:pPr marL="0" indent="0" algn="l">
              <a:buNone/>
            </a:pPr>
            <a:r>
              <a:rPr lang="en-US" sz="2400" b="1" dirty="0">
                <a:solidFill>
                  <a:srgbClr val="40916C"/>
                </a:solidFill>
                <a:latin typeface="Georgia" pitchFamily="34" charset="0"/>
                <a:ea typeface="Georgia" pitchFamily="34" charset="-122"/>
                <a:cs typeface="Georgia" pitchFamily="34" charset="-120"/>
              </a:rPr>
              <a:t>The Solution</a:t>
            </a:r>
            <a:endParaRPr lang="en-US" sz="2400" dirty="0"/>
          </a:p>
        </p:txBody>
      </p:sp>
      <p:sp>
        <p:nvSpPr>
          <p:cNvPr id="43" name="Text 33"/>
          <p:cNvSpPr/>
          <p:nvPr/>
        </p:nvSpPr>
        <p:spPr>
          <a:xfrm>
            <a:off x="9966960" y="8092440"/>
            <a:ext cx="7132320" cy="411480"/>
          </a:xfrm>
          <a:prstGeom prst="rect">
            <a:avLst/>
          </a:prstGeom>
          <a:noFill/>
          <a:ln/>
        </p:spPr>
        <p:txBody>
          <a:bodyPr wrap="square" lIns="0" tIns="0" rIns="0" bIns="0" rtlCol="0" anchor="ctr"/>
          <a:lstStyle/>
          <a:p>
            <a:pPr marL="0" indent="0">
              <a:lnSpc>
                <a:spcPct val="125000"/>
              </a:lnSpc>
              <a:buNone/>
            </a:pPr>
            <a:r>
              <a:rPr lang="en-US" sz="1300" dirty="0">
                <a:solidFill>
                  <a:srgbClr val="2C3E50"/>
                </a:solidFill>
                <a:latin typeface="Arial" pitchFamily="34" charset="0"/>
                <a:ea typeface="Arial" pitchFamily="34" charset="-122"/>
                <a:cs typeface="Arial" pitchFamily="34" charset="-120"/>
              </a:rPr>
              <a:t>Tawazun empowers smart land decisions through AI:</a:t>
            </a:r>
            <a:endParaRPr lang="en-US" sz="1300" dirty="0"/>
          </a:p>
        </p:txBody>
      </p:sp>
      <p:pic>
        <p:nvPicPr>
          <p:cNvPr id="44" name="Image 8" descr="preencoded.png"/>
          <p:cNvPicPr>
            <a:picLocks noChangeAspect="1"/>
          </p:cNvPicPr>
          <p:nvPr/>
        </p:nvPicPr>
        <p:blipFill>
          <a:blip r:embed="rId11"/>
          <a:stretch>
            <a:fillRect/>
          </a:stretch>
        </p:blipFill>
        <p:spPr>
          <a:xfrm>
            <a:off x="10058400" y="8778240"/>
            <a:ext cx="347472" cy="347472"/>
          </a:xfrm>
          <a:prstGeom prst="rect">
            <a:avLst/>
          </a:prstGeom>
        </p:spPr>
      </p:pic>
      <p:sp>
        <p:nvSpPr>
          <p:cNvPr id="45" name="Text 34"/>
          <p:cNvSpPr/>
          <p:nvPr/>
        </p:nvSpPr>
        <p:spPr>
          <a:xfrm>
            <a:off x="10607040" y="8686800"/>
            <a:ext cx="6400800" cy="320040"/>
          </a:xfrm>
          <a:prstGeom prst="rect">
            <a:avLst/>
          </a:prstGeom>
          <a:noFill/>
          <a:ln/>
        </p:spPr>
        <p:txBody>
          <a:bodyPr wrap="square" lIns="0" tIns="0" rIns="0" bIns="0" rtlCol="0" anchor="ctr"/>
          <a:lstStyle/>
          <a:p>
            <a:pPr marL="0" indent="0" algn="l">
              <a:buNone/>
            </a:pPr>
            <a:r>
              <a:rPr lang="en-US" sz="1400" b="1" dirty="0">
                <a:solidFill>
                  <a:srgbClr val="1B4332"/>
                </a:solidFill>
                <a:latin typeface="Arial" pitchFamily="34" charset="0"/>
                <a:ea typeface="Arial" pitchFamily="34" charset="-122"/>
                <a:cs typeface="Arial" pitchFamily="34" charset="-120"/>
              </a:rPr>
              <a:t>Deep Analysis</a:t>
            </a:r>
            <a:endParaRPr lang="en-US" sz="1400" dirty="0"/>
          </a:p>
        </p:txBody>
      </p:sp>
      <p:sp>
        <p:nvSpPr>
          <p:cNvPr id="46" name="Text 35"/>
          <p:cNvSpPr/>
          <p:nvPr/>
        </p:nvSpPr>
        <p:spPr>
          <a:xfrm>
            <a:off x="10607040" y="9006840"/>
            <a:ext cx="6400800" cy="320040"/>
          </a:xfrm>
          <a:prstGeom prst="rect">
            <a:avLst/>
          </a:prstGeom>
          <a:noFill/>
          <a:ln/>
        </p:spPr>
        <p:txBody>
          <a:bodyPr wrap="square" lIns="0" tIns="0" rIns="0" bIns="0" rtlCol="0" anchor="ctr"/>
          <a:lstStyle/>
          <a:p>
            <a:pPr marL="0" indent="0" algn="l">
              <a:buNone/>
            </a:pPr>
            <a:r>
              <a:rPr lang="en-US" sz="1200" dirty="0">
                <a:solidFill>
                  <a:srgbClr val="2C3E50"/>
                </a:solidFill>
                <a:latin typeface="Arial" pitchFamily="34" charset="0"/>
                <a:ea typeface="Arial" pitchFamily="34" charset="-122"/>
                <a:cs typeface="Arial" pitchFamily="34" charset="-120"/>
              </a:rPr>
              <a:t>Scans satellite imagery, water, and soil data instantly</a:t>
            </a:r>
            <a:endParaRPr lang="en-US" sz="1200" dirty="0"/>
          </a:p>
        </p:txBody>
      </p:sp>
      <p:pic>
        <p:nvPicPr>
          <p:cNvPr id="47" name="Image 9" descr="preencoded.png"/>
          <p:cNvPicPr>
            <a:picLocks noChangeAspect="1"/>
          </p:cNvPicPr>
          <p:nvPr/>
        </p:nvPicPr>
        <p:blipFill>
          <a:blip r:embed="rId12"/>
          <a:stretch>
            <a:fillRect/>
          </a:stretch>
        </p:blipFill>
        <p:spPr>
          <a:xfrm>
            <a:off x="10058400" y="9646920"/>
            <a:ext cx="347472" cy="347472"/>
          </a:xfrm>
          <a:prstGeom prst="rect">
            <a:avLst/>
          </a:prstGeom>
        </p:spPr>
      </p:pic>
      <p:sp>
        <p:nvSpPr>
          <p:cNvPr id="48" name="Text 36"/>
          <p:cNvSpPr/>
          <p:nvPr/>
        </p:nvSpPr>
        <p:spPr>
          <a:xfrm>
            <a:off x="10607040" y="9555480"/>
            <a:ext cx="6400800" cy="320040"/>
          </a:xfrm>
          <a:prstGeom prst="rect">
            <a:avLst/>
          </a:prstGeom>
          <a:noFill/>
          <a:ln/>
        </p:spPr>
        <p:txBody>
          <a:bodyPr wrap="square" lIns="0" tIns="0" rIns="0" bIns="0" rtlCol="0" anchor="ctr"/>
          <a:lstStyle/>
          <a:p>
            <a:pPr marL="0" indent="0" algn="l">
              <a:buNone/>
            </a:pPr>
            <a:r>
              <a:rPr lang="en-US" sz="1400" b="1" dirty="0">
                <a:solidFill>
                  <a:srgbClr val="1B4332"/>
                </a:solidFill>
                <a:latin typeface="Arial" pitchFamily="34" charset="0"/>
                <a:ea typeface="Arial" pitchFamily="34" charset="-122"/>
                <a:cs typeface="Arial" pitchFamily="34" charset="-120"/>
              </a:rPr>
              <a:t>Smart Interaction</a:t>
            </a:r>
            <a:endParaRPr lang="en-US" sz="1400" dirty="0"/>
          </a:p>
        </p:txBody>
      </p:sp>
      <p:sp>
        <p:nvSpPr>
          <p:cNvPr id="49" name="Text 37"/>
          <p:cNvSpPr/>
          <p:nvPr/>
        </p:nvSpPr>
        <p:spPr>
          <a:xfrm>
            <a:off x="10607040" y="9875520"/>
            <a:ext cx="6400800" cy="320040"/>
          </a:xfrm>
          <a:prstGeom prst="rect">
            <a:avLst/>
          </a:prstGeom>
          <a:noFill/>
          <a:ln/>
        </p:spPr>
        <p:txBody>
          <a:bodyPr wrap="square" lIns="0" tIns="0" rIns="0" bIns="0" rtlCol="0" anchor="ctr"/>
          <a:lstStyle/>
          <a:p>
            <a:pPr marL="0" indent="0" algn="l">
              <a:buNone/>
            </a:pPr>
            <a:r>
              <a:rPr lang="en-US" sz="1200" dirty="0">
                <a:solidFill>
                  <a:srgbClr val="2C3E50"/>
                </a:solidFill>
                <a:latin typeface="Arial" pitchFamily="34" charset="0"/>
                <a:ea typeface="Arial" pitchFamily="34" charset="-122"/>
                <a:cs typeface="Arial" pitchFamily="34" charset="-120"/>
              </a:rPr>
              <a:t>Understands needs using Arabic/English NLP</a:t>
            </a:r>
            <a:endParaRPr lang="en-US" sz="1200" dirty="0"/>
          </a:p>
        </p:txBody>
      </p:sp>
      <p:pic>
        <p:nvPicPr>
          <p:cNvPr id="50" name="Image 10" descr="preencoded.png"/>
          <p:cNvPicPr>
            <a:picLocks noChangeAspect="1"/>
          </p:cNvPicPr>
          <p:nvPr/>
        </p:nvPicPr>
        <p:blipFill>
          <a:blip r:embed="rId13"/>
          <a:stretch>
            <a:fillRect/>
          </a:stretch>
        </p:blipFill>
        <p:spPr>
          <a:xfrm>
            <a:off x="10058400" y="10515600"/>
            <a:ext cx="347472" cy="347472"/>
          </a:xfrm>
          <a:prstGeom prst="rect">
            <a:avLst/>
          </a:prstGeom>
        </p:spPr>
      </p:pic>
      <p:sp>
        <p:nvSpPr>
          <p:cNvPr id="51" name="Text 38"/>
          <p:cNvSpPr/>
          <p:nvPr/>
        </p:nvSpPr>
        <p:spPr>
          <a:xfrm>
            <a:off x="10607040" y="10424160"/>
            <a:ext cx="6400800" cy="320040"/>
          </a:xfrm>
          <a:prstGeom prst="rect">
            <a:avLst/>
          </a:prstGeom>
          <a:noFill/>
          <a:ln/>
        </p:spPr>
        <p:txBody>
          <a:bodyPr wrap="square" lIns="0" tIns="0" rIns="0" bIns="0" rtlCol="0" anchor="ctr"/>
          <a:lstStyle/>
          <a:p>
            <a:pPr marL="0" indent="0" algn="l">
              <a:buNone/>
            </a:pPr>
            <a:r>
              <a:rPr lang="en-US" sz="1400" b="1" dirty="0">
                <a:solidFill>
                  <a:srgbClr val="1B4332"/>
                </a:solidFill>
                <a:latin typeface="Arial" pitchFamily="34" charset="0"/>
                <a:ea typeface="Arial" pitchFamily="34" charset="-122"/>
                <a:cs typeface="Arial" pitchFamily="34" charset="-120"/>
              </a:rPr>
              <a:t>Clear Verdict</a:t>
            </a:r>
            <a:endParaRPr lang="en-US" sz="1400" dirty="0"/>
          </a:p>
        </p:txBody>
      </p:sp>
      <p:sp>
        <p:nvSpPr>
          <p:cNvPr id="52" name="Text 39"/>
          <p:cNvSpPr/>
          <p:nvPr/>
        </p:nvSpPr>
        <p:spPr>
          <a:xfrm>
            <a:off x="10607040" y="10744200"/>
            <a:ext cx="6400800" cy="320040"/>
          </a:xfrm>
          <a:prstGeom prst="rect">
            <a:avLst/>
          </a:prstGeom>
          <a:noFill/>
          <a:ln/>
        </p:spPr>
        <p:txBody>
          <a:bodyPr wrap="square" lIns="0" tIns="0" rIns="0" bIns="0" rtlCol="0" anchor="ctr"/>
          <a:lstStyle/>
          <a:p>
            <a:pPr marL="0" indent="0" algn="l">
              <a:buNone/>
            </a:pPr>
            <a:r>
              <a:rPr lang="en-US" sz="1200" dirty="0">
                <a:solidFill>
                  <a:srgbClr val="2C3E50"/>
                </a:solidFill>
                <a:latin typeface="Arial" pitchFamily="34" charset="0"/>
                <a:ea typeface="Arial" pitchFamily="34" charset="-122"/>
                <a:cs typeface="Arial" pitchFamily="34" charset="-120"/>
              </a:rPr>
              <a:t>Outputs Build, Plant, or Protect with confidence score</a:t>
            </a:r>
            <a:endParaRPr lang="en-US" sz="1200" dirty="0"/>
          </a:p>
        </p:txBody>
      </p:sp>
      <p:sp>
        <p:nvSpPr>
          <p:cNvPr id="53" name="Shape 40"/>
          <p:cNvSpPr/>
          <p:nvPr/>
        </p:nvSpPr>
        <p:spPr>
          <a:xfrm>
            <a:off x="10058400" y="11064240"/>
            <a:ext cx="2011680" cy="594360"/>
          </a:xfrm>
          <a:prstGeom prst="roundRect">
            <a:avLst>
              <a:gd name="adj" fmla="val 15385"/>
            </a:avLst>
          </a:prstGeom>
          <a:solidFill>
            <a:srgbClr val="E0F2FE"/>
          </a:solidFill>
          <a:ln/>
        </p:spPr>
        <p:txBody>
          <a:bodyPr/>
          <a:lstStyle/>
          <a:p>
            <a:endParaRPr lang="en-GB"/>
          </a:p>
        </p:txBody>
      </p:sp>
      <p:sp>
        <p:nvSpPr>
          <p:cNvPr id="54" name="Text 41"/>
          <p:cNvSpPr/>
          <p:nvPr/>
        </p:nvSpPr>
        <p:spPr>
          <a:xfrm>
            <a:off x="10058400" y="11155680"/>
            <a:ext cx="2011680" cy="411480"/>
          </a:xfrm>
          <a:prstGeom prst="rect">
            <a:avLst/>
          </a:prstGeom>
          <a:noFill/>
          <a:ln/>
        </p:spPr>
        <p:txBody>
          <a:bodyPr wrap="square" lIns="0" tIns="0" rIns="0" bIns="0" rtlCol="0" anchor="ctr"/>
          <a:lstStyle/>
          <a:p>
            <a:pPr marL="0" indent="0" algn="ctr">
              <a:buNone/>
            </a:pPr>
            <a:r>
              <a:rPr lang="en-US" sz="1600" b="1" dirty="0">
                <a:solidFill>
                  <a:srgbClr val="264653"/>
                </a:solidFill>
                <a:latin typeface="Arial Black" pitchFamily="34" charset="0"/>
                <a:ea typeface="Arial Black" pitchFamily="34" charset="-122"/>
                <a:cs typeface="Arial Black" pitchFamily="34" charset="-120"/>
              </a:rPr>
              <a:t>BUILD</a:t>
            </a:r>
            <a:endParaRPr lang="en-US" sz="1600" dirty="0"/>
          </a:p>
        </p:txBody>
      </p:sp>
      <p:sp>
        <p:nvSpPr>
          <p:cNvPr id="55" name="Shape 42"/>
          <p:cNvSpPr/>
          <p:nvPr/>
        </p:nvSpPr>
        <p:spPr>
          <a:xfrm>
            <a:off x="12344400" y="11064240"/>
            <a:ext cx="2011680" cy="594360"/>
          </a:xfrm>
          <a:prstGeom prst="roundRect">
            <a:avLst>
              <a:gd name="adj" fmla="val 15385"/>
            </a:avLst>
          </a:prstGeom>
          <a:solidFill>
            <a:srgbClr val="D8F3DC"/>
          </a:solidFill>
          <a:ln/>
        </p:spPr>
        <p:txBody>
          <a:bodyPr/>
          <a:lstStyle/>
          <a:p>
            <a:endParaRPr lang="en-GB"/>
          </a:p>
        </p:txBody>
      </p:sp>
      <p:sp>
        <p:nvSpPr>
          <p:cNvPr id="56" name="Text 43"/>
          <p:cNvSpPr/>
          <p:nvPr/>
        </p:nvSpPr>
        <p:spPr>
          <a:xfrm>
            <a:off x="12344400" y="11155680"/>
            <a:ext cx="2011680" cy="411480"/>
          </a:xfrm>
          <a:prstGeom prst="rect">
            <a:avLst/>
          </a:prstGeom>
          <a:noFill/>
          <a:ln/>
        </p:spPr>
        <p:txBody>
          <a:bodyPr wrap="square" lIns="0" tIns="0" rIns="0" bIns="0" rtlCol="0" anchor="ctr"/>
          <a:lstStyle/>
          <a:p>
            <a:pPr marL="0" indent="0" algn="ctr">
              <a:buNone/>
            </a:pPr>
            <a:r>
              <a:rPr lang="en-US" sz="1600" b="1" dirty="0">
                <a:solidFill>
                  <a:srgbClr val="2D6A4F"/>
                </a:solidFill>
                <a:latin typeface="Arial Black" pitchFamily="34" charset="0"/>
                <a:ea typeface="Arial Black" pitchFamily="34" charset="-122"/>
                <a:cs typeface="Arial Black" pitchFamily="34" charset="-120"/>
              </a:rPr>
              <a:t>PLANT</a:t>
            </a:r>
            <a:endParaRPr lang="en-US" sz="1600" dirty="0"/>
          </a:p>
        </p:txBody>
      </p:sp>
      <p:sp>
        <p:nvSpPr>
          <p:cNvPr id="57" name="Shape 44"/>
          <p:cNvSpPr/>
          <p:nvPr/>
        </p:nvSpPr>
        <p:spPr>
          <a:xfrm>
            <a:off x="14630400" y="11064240"/>
            <a:ext cx="2011680" cy="594360"/>
          </a:xfrm>
          <a:prstGeom prst="roundRect">
            <a:avLst>
              <a:gd name="adj" fmla="val 15385"/>
            </a:avLst>
          </a:prstGeom>
          <a:solidFill>
            <a:srgbClr val="FFF7ED"/>
          </a:solidFill>
          <a:ln/>
        </p:spPr>
        <p:txBody>
          <a:bodyPr/>
          <a:lstStyle/>
          <a:p>
            <a:endParaRPr lang="en-GB"/>
          </a:p>
        </p:txBody>
      </p:sp>
      <p:sp>
        <p:nvSpPr>
          <p:cNvPr id="58" name="Text 45"/>
          <p:cNvSpPr/>
          <p:nvPr/>
        </p:nvSpPr>
        <p:spPr>
          <a:xfrm>
            <a:off x="14630400" y="11155680"/>
            <a:ext cx="2011680" cy="411480"/>
          </a:xfrm>
          <a:prstGeom prst="rect">
            <a:avLst/>
          </a:prstGeom>
          <a:noFill/>
          <a:ln/>
        </p:spPr>
        <p:txBody>
          <a:bodyPr wrap="square" lIns="0" tIns="0" rIns="0" bIns="0" rtlCol="0" anchor="ctr"/>
          <a:lstStyle/>
          <a:p>
            <a:pPr marL="0" indent="0" algn="ctr">
              <a:buNone/>
            </a:pPr>
            <a:r>
              <a:rPr lang="en-US" sz="1600" b="1" dirty="0">
                <a:solidFill>
                  <a:srgbClr val="9A3412"/>
                </a:solidFill>
                <a:latin typeface="Arial Black" pitchFamily="34" charset="0"/>
                <a:ea typeface="Arial Black" pitchFamily="34" charset="-122"/>
                <a:cs typeface="Arial Black" pitchFamily="34" charset="-120"/>
              </a:rPr>
              <a:t>PROTECT</a:t>
            </a:r>
            <a:endParaRPr lang="en-US" sz="1600" dirty="0"/>
          </a:p>
        </p:txBody>
      </p:sp>
      <p:sp>
        <p:nvSpPr>
          <p:cNvPr id="59" name="Text 46"/>
          <p:cNvSpPr/>
          <p:nvPr/>
        </p:nvSpPr>
        <p:spPr>
          <a:xfrm>
            <a:off x="731520" y="12252960"/>
            <a:ext cx="16824960" cy="640080"/>
          </a:xfrm>
          <a:prstGeom prst="rect">
            <a:avLst/>
          </a:prstGeom>
          <a:noFill/>
          <a:ln/>
        </p:spPr>
        <p:txBody>
          <a:bodyPr wrap="square" lIns="0" tIns="0" rIns="0" bIns="0" rtlCol="0" anchor="ctr"/>
          <a:lstStyle/>
          <a:p>
            <a:pPr marL="0" indent="0" algn="ctr">
              <a:buNone/>
            </a:pPr>
            <a:r>
              <a:rPr lang="en-US" sz="2600" b="1" dirty="0">
                <a:solidFill>
                  <a:srgbClr val="1B4332"/>
                </a:solidFill>
                <a:latin typeface="Georgia" pitchFamily="34" charset="0"/>
                <a:ea typeface="Georgia" pitchFamily="34" charset="-122"/>
                <a:cs typeface="Georgia" pitchFamily="34" charset="-120"/>
              </a:rPr>
              <a:t>How Tawazun Works</a:t>
            </a:r>
            <a:endParaRPr lang="en-US" sz="2600" dirty="0"/>
          </a:p>
        </p:txBody>
      </p:sp>
      <p:sp>
        <p:nvSpPr>
          <p:cNvPr id="60" name="Shape 47"/>
          <p:cNvSpPr/>
          <p:nvPr/>
        </p:nvSpPr>
        <p:spPr>
          <a:xfrm>
            <a:off x="731520" y="13075920"/>
            <a:ext cx="5303520" cy="2743200"/>
          </a:xfrm>
          <a:prstGeom prst="rect">
            <a:avLst/>
          </a:prstGeom>
          <a:solidFill>
            <a:srgbClr val="EDF2F4"/>
          </a:solidFill>
          <a:ln/>
          <a:effectLst>
            <a:outerShdw blurRad="50800" dist="25400" dir="8100000" algn="bl" rotWithShape="0">
              <a:srgbClr val="000000">
                <a:alpha val="8000"/>
              </a:srgbClr>
            </a:outerShdw>
          </a:effectLst>
        </p:spPr>
        <p:txBody>
          <a:bodyPr/>
          <a:lstStyle/>
          <a:p>
            <a:endParaRPr lang="en-GB"/>
          </a:p>
        </p:txBody>
      </p:sp>
      <p:sp>
        <p:nvSpPr>
          <p:cNvPr id="61" name="Shape 48"/>
          <p:cNvSpPr/>
          <p:nvPr/>
        </p:nvSpPr>
        <p:spPr>
          <a:xfrm>
            <a:off x="731520" y="13075920"/>
            <a:ext cx="5303520" cy="73152"/>
          </a:xfrm>
          <a:prstGeom prst="rect">
            <a:avLst/>
          </a:prstGeom>
          <a:solidFill>
            <a:srgbClr val="264653"/>
          </a:solidFill>
          <a:ln/>
        </p:spPr>
        <p:txBody>
          <a:bodyPr/>
          <a:lstStyle/>
          <a:p>
            <a:endParaRPr lang="en-GB"/>
          </a:p>
        </p:txBody>
      </p:sp>
      <p:sp>
        <p:nvSpPr>
          <p:cNvPr id="62" name="Shape 49"/>
          <p:cNvSpPr/>
          <p:nvPr/>
        </p:nvSpPr>
        <p:spPr>
          <a:xfrm>
            <a:off x="2651760" y="13350240"/>
            <a:ext cx="1097280" cy="1097280"/>
          </a:xfrm>
          <a:prstGeom prst="ellipse">
            <a:avLst/>
          </a:prstGeom>
          <a:solidFill>
            <a:srgbClr val="264653"/>
          </a:solidFill>
          <a:ln/>
        </p:spPr>
        <p:txBody>
          <a:bodyPr/>
          <a:lstStyle/>
          <a:p>
            <a:endParaRPr lang="en-GB"/>
          </a:p>
        </p:txBody>
      </p:sp>
      <p:pic>
        <p:nvPicPr>
          <p:cNvPr id="63" name="Image 11" descr="preencoded.png"/>
          <p:cNvPicPr>
            <a:picLocks noChangeAspect="1"/>
          </p:cNvPicPr>
          <p:nvPr/>
        </p:nvPicPr>
        <p:blipFill>
          <a:blip r:embed="rId14"/>
          <a:stretch>
            <a:fillRect/>
          </a:stretch>
        </p:blipFill>
        <p:spPr>
          <a:xfrm>
            <a:off x="2880360" y="13578840"/>
            <a:ext cx="640080" cy="640080"/>
          </a:xfrm>
          <a:prstGeom prst="rect">
            <a:avLst/>
          </a:prstGeom>
        </p:spPr>
      </p:pic>
      <p:sp>
        <p:nvSpPr>
          <p:cNvPr id="64" name="Text 50"/>
          <p:cNvSpPr/>
          <p:nvPr/>
        </p:nvSpPr>
        <p:spPr>
          <a:xfrm>
            <a:off x="1005840" y="14584680"/>
            <a:ext cx="4754880" cy="365760"/>
          </a:xfrm>
          <a:prstGeom prst="rect">
            <a:avLst/>
          </a:prstGeom>
          <a:noFill/>
          <a:ln/>
        </p:spPr>
        <p:txBody>
          <a:bodyPr wrap="square" lIns="0" tIns="0" rIns="0" bIns="0" rtlCol="0" anchor="ctr"/>
          <a:lstStyle/>
          <a:p>
            <a:pPr marL="0" indent="0" algn="ctr">
              <a:buNone/>
            </a:pPr>
            <a:r>
              <a:rPr lang="en-US" sz="1600" b="1" dirty="0">
                <a:solidFill>
                  <a:srgbClr val="264653"/>
                </a:solidFill>
                <a:latin typeface="Arial" pitchFamily="34" charset="0"/>
                <a:ea typeface="Arial" pitchFamily="34" charset="-122"/>
                <a:cs typeface="Arial" pitchFamily="34" charset="-120"/>
              </a:rPr>
              <a:t>1. Data Acquisition</a:t>
            </a:r>
            <a:endParaRPr lang="en-US" sz="1600" dirty="0"/>
          </a:p>
        </p:txBody>
      </p:sp>
      <p:sp>
        <p:nvSpPr>
          <p:cNvPr id="65" name="Text 51"/>
          <p:cNvSpPr/>
          <p:nvPr/>
        </p:nvSpPr>
        <p:spPr>
          <a:xfrm>
            <a:off x="1005840" y="14996160"/>
            <a:ext cx="4754880" cy="685800"/>
          </a:xfrm>
          <a:prstGeom prst="rect">
            <a:avLst/>
          </a:prstGeom>
          <a:noFill/>
          <a:ln/>
        </p:spPr>
        <p:txBody>
          <a:bodyPr wrap="square" lIns="0" tIns="0" rIns="0" bIns="0" rtlCol="0" anchor="ctr"/>
          <a:lstStyle/>
          <a:p>
            <a:pPr marL="0" indent="0" algn="ctr">
              <a:lnSpc>
                <a:spcPct val="125000"/>
              </a:lnSpc>
              <a:buNone/>
            </a:pPr>
            <a:r>
              <a:rPr lang="en-US" sz="1300" dirty="0">
                <a:solidFill>
                  <a:srgbClr val="2C3E50"/>
                </a:solidFill>
                <a:latin typeface="Arial" pitchFamily="34" charset="0"/>
                <a:ea typeface="Arial" pitchFamily="34" charset="-122"/>
                <a:cs typeface="Arial" pitchFamily="34" charset="-120"/>
              </a:rPr>
              <a:t>Aggregates real-time satellite imagery, soil quality metrics, water availability, weather data, and municipal GIS zoning data.</a:t>
            </a:r>
            <a:endParaRPr lang="en-US" sz="1300" dirty="0"/>
          </a:p>
        </p:txBody>
      </p:sp>
      <p:pic>
        <p:nvPicPr>
          <p:cNvPr id="66" name="Image 12" descr="preencoded.png"/>
          <p:cNvPicPr>
            <a:picLocks noChangeAspect="1"/>
          </p:cNvPicPr>
          <p:nvPr/>
        </p:nvPicPr>
        <p:blipFill>
          <a:blip r:embed="rId15"/>
          <a:stretch>
            <a:fillRect/>
          </a:stretch>
        </p:blipFill>
        <p:spPr>
          <a:xfrm>
            <a:off x="6172200" y="14173200"/>
            <a:ext cx="320040" cy="320040"/>
          </a:xfrm>
          <a:prstGeom prst="rect">
            <a:avLst/>
          </a:prstGeom>
        </p:spPr>
      </p:pic>
      <p:sp>
        <p:nvSpPr>
          <p:cNvPr id="67" name="Shape 52"/>
          <p:cNvSpPr/>
          <p:nvPr/>
        </p:nvSpPr>
        <p:spPr>
          <a:xfrm>
            <a:off x="6583680" y="13075920"/>
            <a:ext cx="5303520" cy="2743200"/>
          </a:xfrm>
          <a:prstGeom prst="rect">
            <a:avLst/>
          </a:prstGeom>
          <a:solidFill>
            <a:srgbClr val="E8F5E9"/>
          </a:solidFill>
          <a:ln/>
          <a:effectLst>
            <a:outerShdw blurRad="50800" dist="25400" dir="8100000" algn="bl" rotWithShape="0">
              <a:srgbClr val="000000">
                <a:alpha val="8000"/>
              </a:srgbClr>
            </a:outerShdw>
          </a:effectLst>
        </p:spPr>
        <p:txBody>
          <a:bodyPr/>
          <a:lstStyle/>
          <a:p>
            <a:endParaRPr lang="en-GB"/>
          </a:p>
        </p:txBody>
      </p:sp>
      <p:sp>
        <p:nvSpPr>
          <p:cNvPr id="68" name="Shape 53"/>
          <p:cNvSpPr/>
          <p:nvPr/>
        </p:nvSpPr>
        <p:spPr>
          <a:xfrm>
            <a:off x="6583680" y="13075920"/>
            <a:ext cx="5303520" cy="73152"/>
          </a:xfrm>
          <a:prstGeom prst="rect">
            <a:avLst/>
          </a:prstGeom>
          <a:solidFill>
            <a:srgbClr val="2D6A4F"/>
          </a:solidFill>
          <a:ln/>
        </p:spPr>
        <p:txBody>
          <a:bodyPr/>
          <a:lstStyle/>
          <a:p>
            <a:endParaRPr lang="en-GB"/>
          </a:p>
        </p:txBody>
      </p:sp>
      <p:sp>
        <p:nvSpPr>
          <p:cNvPr id="69" name="Shape 54"/>
          <p:cNvSpPr/>
          <p:nvPr/>
        </p:nvSpPr>
        <p:spPr>
          <a:xfrm>
            <a:off x="8503920" y="13350240"/>
            <a:ext cx="1097280" cy="1097280"/>
          </a:xfrm>
          <a:prstGeom prst="ellipse">
            <a:avLst/>
          </a:prstGeom>
          <a:solidFill>
            <a:srgbClr val="2D6A4F"/>
          </a:solidFill>
          <a:ln/>
        </p:spPr>
        <p:txBody>
          <a:bodyPr/>
          <a:lstStyle/>
          <a:p>
            <a:endParaRPr lang="en-GB"/>
          </a:p>
        </p:txBody>
      </p:sp>
      <p:pic>
        <p:nvPicPr>
          <p:cNvPr id="70" name="Image 13" descr="preencoded.png"/>
          <p:cNvPicPr>
            <a:picLocks noChangeAspect="1"/>
          </p:cNvPicPr>
          <p:nvPr/>
        </p:nvPicPr>
        <p:blipFill>
          <a:blip r:embed="rId16"/>
          <a:stretch>
            <a:fillRect/>
          </a:stretch>
        </p:blipFill>
        <p:spPr>
          <a:xfrm>
            <a:off x="8732520" y="13578840"/>
            <a:ext cx="640080" cy="640080"/>
          </a:xfrm>
          <a:prstGeom prst="rect">
            <a:avLst/>
          </a:prstGeom>
        </p:spPr>
      </p:pic>
      <p:sp>
        <p:nvSpPr>
          <p:cNvPr id="71" name="Text 55"/>
          <p:cNvSpPr/>
          <p:nvPr/>
        </p:nvSpPr>
        <p:spPr>
          <a:xfrm>
            <a:off x="6858000" y="14584680"/>
            <a:ext cx="4754880" cy="365760"/>
          </a:xfrm>
          <a:prstGeom prst="rect">
            <a:avLst/>
          </a:prstGeom>
          <a:noFill/>
          <a:ln/>
        </p:spPr>
        <p:txBody>
          <a:bodyPr wrap="square" lIns="0" tIns="0" rIns="0" bIns="0" rtlCol="0" anchor="ctr"/>
          <a:lstStyle/>
          <a:p>
            <a:pPr marL="0" indent="0" algn="ctr">
              <a:buNone/>
            </a:pPr>
            <a:r>
              <a:rPr lang="en-US" sz="1600" b="1" dirty="0">
                <a:solidFill>
                  <a:srgbClr val="2D6A4F"/>
                </a:solidFill>
                <a:latin typeface="Arial" pitchFamily="34" charset="0"/>
                <a:ea typeface="Arial" pitchFamily="34" charset="-122"/>
                <a:cs typeface="Arial" pitchFamily="34" charset="-120"/>
              </a:rPr>
              <a:t>2. AI Processing</a:t>
            </a:r>
            <a:endParaRPr lang="en-US" sz="1600" dirty="0"/>
          </a:p>
        </p:txBody>
      </p:sp>
      <p:sp>
        <p:nvSpPr>
          <p:cNvPr id="72" name="Text 56"/>
          <p:cNvSpPr/>
          <p:nvPr/>
        </p:nvSpPr>
        <p:spPr>
          <a:xfrm>
            <a:off x="6858000" y="14996160"/>
            <a:ext cx="4754880" cy="685800"/>
          </a:xfrm>
          <a:prstGeom prst="rect">
            <a:avLst/>
          </a:prstGeom>
          <a:noFill/>
          <a:ln/>
        </p:spPr>
        <p:txBody>
          <a:bodyPr wrap="square" lIns="0" tIns="0" rIns="0" bIns="0" rtlCol="0" anchor="ctr"/>
          <a:lstStyle/>
          <a:p>
            <a:pPr marL="0" indent="0" algn="ctr">
              <a:lnSpc>
                <a:spcPct val="125000"/>
              </a:lnSpc>
              <a:buNone/>
            </a:pPr>
            <a:r>
              <a:rPr lang="en-US" sz="1300" dirty="0">
                <a:solidFill>
                  <a:srgbClr val="2C3E50"/>
                </a:solidFill>
                <a:latin typeface="Arial" pitchFamily="34" charset="0"/>
                <a:ea typeface="Arial" pitchFamily="34" charset="-122"/>
                <a:cs typeface="Arial" pitchFamily="34" charset="-120"/>
              </a:rPr>
              <a:t>Computer Vision detects land cover and changes. Native Arabic NLP model processes user intent and queries in both Arabic and English.</a:t>
            </a:r>
            <a:endParaRPr lang="en-US" sz="1300" dirty="0"/>
          </a:p>
        </p:txBody>
      </p:sp>
      <p:pic>
        <p:nvPicPr>
          <p:cNvPr id="73" name="Image 14" descr="preencoded.png"/>
          <p:cNvPicPr>
            <a:picLocks noChangeAspect="1"/>
          </p:cNvPicPr>
          <p:nvPr/>
        </p:nvPicPr>
        <p:blipFill>
          <a:blip r:embed="rId15"/>
          <a:stretch>
            <a:fillRect/>
          </a:stretch>
        </p:blipFill>
        <p:spPr>
          <a:xfrm>
            <a:off x="12024360" y="14173200"/>
            <a:ext cx="320040" cy="320040"/>
          </a:xfrm>
          <a:prstGeom prst="rect">
            <a:avLst/>
          </a:prstGeom>
        </p:spPr>
      </p:pic>
      <p:sp>
        <p:nvSpPr>
          <p:cNvPr id="74" name="Shape 57"/>
          <p:cNvSpPr/>
          <p:nvPr/>
        </p:nvSpPr>
        <p:spPr>
          <a:xfrm>
            <a:off x="12435840" y="13075920"/>
            <a:ext cx="5303520" cy="2743200"/>
          </a:xfrm>
          <a:prstGeom prst="rect">
            <a:avLst/>
          </a:prstGeom>
          <a:solidFill>
            <a:srgbClr val="FFF3E0"/>
          </a:solidFill>
          <a:ln/>
          <a:effectLst>
            <a:outerShdw blurRad="50800" dist="25400" dir="8100000" algn="bl" rotWithShape="0">
              <a:srgbClr val="000000">
                <a:alpha val="8000"/>
              </a:srgbClr>
            </a:outerShdw>
          </a:effectLst>
        </p:spPr>
        <p:txBody>
          <a:bodyPr/>
          <a:lstStyle/>
          <a:p>
            <a:endParaRPr lang="en-GB"/>
          </a:p>
        </p:txBody>
      </p:sp>
      <p:sp>
        <p:nvSpPr>
          <p:cNvPr id="75" name="Shape 58"/>
          <p:cNvSpPr/>
          <p:nvPr/>
        </p:nvSpPr>
        <p:spPr>
          <a:xfrm>
            <a:off x="12435840" y="13075920"/>
            <a:ext cx="5303520" cy="73152"/>
          </a:xfrm>
          <a:prstGeom prst="rect">
            <a:avLst/>
          </a:prstGeom>
          <a:solidFill>
            <a:srgbClr val="E76F51"/>
          </a:solidFill>
          <a:ln/>
        </p:spPr>
        <p:txBody>
          <a:bodyPr/>
          <a:lstStyle/>
          <a:p>
            <a:endParaRPr lang="en-GB"/>
          </a:p>
        </p:txBody>
      </p:sp>
      <p:sp>
        <p:nvSpPr>
          <p:cNvPr id="76" name="Shape 59"/>
          <p:cNvSpPr/>
          <p:nvPr/>
        </p:nvSpPr>
        <p:spPr>
          <a:xfrm>
            <a:off x="14356080" y="13350240"/>
            <a:ext cx="1097280" cy="1097280"/>
          </a:xfrm>
          <a:prstGeom prst="ellipse">
            <a:avLst/>
          </a:prstGeom>
          <a:solidFill>
            <a:srgbClr val="E76F51"/>
          </a:solidFill>
          <a:ln/>
        </p:spPr>
        <p:txBody>
          <a:bodyPr/>
          <a:lstStyle/>
          <a:p>
            <a:endParaRPr lang="en-GB"/>
          </a:p>
        </p:txBody>
      </p:sp>
      <p:pic>
        <p:nvPicPr>
          <p:cNvPr id="77" name="Image 15" descr="preencoded.png"/>
          <p:cNvPicPr>
            <a:picLocks noChangeAspect="1"/>
          </p:cNvPicPr>
          <p:nvPr/>
        </p:nvPicPr>
        <p:blipFill>
          <a:blip r:embed="rId17"/>
          <a:stretch>
            <a:fillRect/>
          </a:stretch>
        </p:blipFill>
        <p:spPr>
          <a:xfrm>
            <a:off x="14584680" y="13578840"/>
            <a:ext cx="640080" cy="640080"/>
          </a:xfrm>
          <a:prstGeom prst="rect">
            <a:avLst/>
          </a:prstGeom>
        </p:spPr>
      </p:pic>
      <p:sp>
        <p:nvSpPr>
          <p:cNvPr id="78" name="Text 60"/>
          <p:cNvSpPr/>
          <p:nvPr/>
        </p:nvSpPr>
        <p:spPr>
          <a:xfrm>
            <a:off x="12710160" y="14584680"/>
            <a:ext cx="4754880" cy="365760"/>
          </a:xfrm>
          <a:prstGeom prst="rect">
            <a:avLst/>
          </a:prstGeom>
          <a:noFill/>
          <a:ln/>
        </p:spPr>
        <p:txBody>
          <a:bodyPr wrap="square" lIns="0" tIns="0" rIns="0" bIns="0" rtlCol="0" anchor="ctr"/>
          <a:lstStyle/>
          <a:p>
            <a:pPr marL="0" indent="0" algn="ctr">
              <a:buNone/>
            </a:pPr>
            <a:r>
              <a:rPr lang="en-US" sz="1600" b="1" dirty="0">
                <a:solidFill>
                  <a:srgbClr val="E76F51"/>
                </a:solidFill>
                <a:latin typeface="Arial" pitchFamily="34" charset="0"/>
                <a:ea typeface="Arial" pitchFamily="34" charset="-122"/>
                <a:cs typeface="Arial" pitchFamily="34" charset="-120"/>
              </a:rPr>
              <a:t>3. Decision Engine</a:t>
            </a:r>
            <a:endParaRPr lang="en-US" sz="1600" dirty="0"/>
          </a:p>
        </p:txBody>
      </p:sp>
      <p:sp>
        <p:nvSpPr>
          <p:cNvPr id="79" name="Text 61"/>
          <p:cNvSpPr/>
          <p:nvPr/>
        </p:nvSpPr>
        <p:spPr>
          <a:xfrm>
            <a:off x="12710160" y="14996160"/>
            <a:ext cx="4754880" cy="685800"/>
          </a:xfrm>
          <a:prstGeom prst="rect">
            <a:avLst/>
          </a:prstGeom>
          <a:noFill/>
          <a:ln/>
        </p:spPr>
        <p:txBody>
          <a:bodyPr wrap="square" lIns="0" tIns="0" rIns="0" bIns="0" rtlCol="0" anchor="ctr"/>
          <a:lstStyle/>
          <a:p>
            <a:pPr marL="0" indent="0" algn="ctr">
              <a:lnSpc>
                <a:spcPct val="125000"/>
              </a:lnSpc>
              <a:buNone/>
            </a:pPr>
            <a:r>
              <a:rPr lang="en-US" sz="1300" dirty="0">
                <a:solidFill>
                  <a:srgbClr val="2C3E50"/>
                </a:solidFill>
                <a:latin typeface="Arial" pitchFamily="34" charset="0"/>
                <a:ea typeface="Arial" pitchFamily="34" charset="-122"/>
                <a:cs typeface="Arial" pitchFamily="34" charset="-120"/>
              </a:rPr>
              <a:t>Fuses all data to calculate a precise suitability score. Outputs a definitive action plan: Build, Plant, or Protect with confidence %.</a:t>
            </a:r>
            <a:endParaRPr lang="en-US" sz="1300" dirty="0"/>
          </a:p>
        </p:txBody>
      </p:sp>
      <p:sp>
        <p:nvSpPr>
          <p:cNvPr id="80" name="Text 62"/>
          <p:cNvSpPr/>
          <p:nvPr/>
        </p:nvSpPr>
        <p:spPr>
          <a:xfrm>
            <a:off x="731520" y="16184880"/>
            <a:ext cx="16824960" cy="640080"/>
          </a:xfrm>
          <a:prstGeom prst="rect">
            <a:avLst/>
          </a:prstGeom>
          <a:noFill/>
          <a:ln/>
        </p:spPr>
        <p:txBody>
          <a:bodyPr wrap="square" lIns="0" tIns="0" rIns="0" bIns="0" rtlCol="0" anchor="ctr"/>
          <a:lstStyle/>
          <a:p>
            <a:pPr marL="0" indent="0" algn="ctr">
              <a:buNone/>
            </a:pPr>
            <a:r>
              <a:rPr lang="en-US" sz="2600" b="1" dirty="0">
                <a:solidFill>
                  <a:srgbClr val="1B4332"/>
                </a:solidFill>
                <a:latin typeface="Georgia" pitchFamily="34" charset="0"/>
                <a:ea typeface="Georgia" pitchFamily="34" charset="-122"/>
                <a:cs typeface="Georgia" pitchFamily="34" charset="-120"/>
              </a:rPr>
              <a:t>Key Features</a:t>
            </a:r>
            <a:endParaRPr lang="en-US" sz="2600" dirty="0"/>
          </a:p>
        </p:txBody>
      </p:sp>
      <p:sp>
        <p:nvSpPr>
          <p:cNvPr id="81" name="Shape 63"/>
          <p:cNvSpPr/>
          <p:nvPr/>
        </p:nvSpPr>
        <p:spPr>
          <a:xfrm>
            <a:off x="731520" y="16916400"/>
            <a:ext cx="402336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82" name="Shape 64"/>
          <p:cNvSpPr/>
          <p:nvPr/>
        </p:nvSpPr>
        <p:spPr>
          <a:xfrm>
            <a:off x="1005840" y="17145000"/>
            <a:ext cx="777240" cy="777240"/>
          </a:xfrm>
          <a:prstGeom prst="ellipse">
            <a:avLst/>
          </a:prstGeom>
          <a:solidFill>
            <a:srgbClr val="D8F3DC"/>
          </a:solidFill>
          <a:ln/>
        </p:spPr>
        <p:txBody>
          <a:bodyPr/>
          <a:lstStyle/>
          <a:p>
            <a:endParaRPr lang="en-GB"/>
          </a:p>
        </p:txBody>
      </p:sp>
      <p:pic>
        <p:nvPicPr>
          <p:cNvPr id="83" name="Image 16" descr="preencoded.png"/>
          <p:cNvPicPr>
            <a:picLocks noChangeAspect="1"/>
          </p:cNvPicPr>
          <p:nvPr/>
        </p:nvPicPr>
        <p:blipFill>
          <a:blip r:embed="rId18"/>
          <a:stretch>
            <a:fillRect/>
          </a:stretch>
        </p:blipFill>
        <p:spPr>
          <a:xfrm>
            <a:off x="1143000" y="17282160"/>
            <a:ext cx="502920" cy="502920"/>
          </a:xfrm>
          <a:prstGeom prst="rect">
            <a:avLst/>
          </a:prstGeom>
        </p:spPr>
      </p:pic>
      <p:sp>
        <p:nvSpPr>
          <p:cNvPr id="84" name="Text 65"/>
          <p:cNvSpPr/>
          <p:nvPr/>
        </p:nvSpPr>
        <p:spPr>
          <a:xfrm>
            <a:off x="1965960" y="17053560"/>
            <a:ext cx="2560320" cy="640080"/>
          </a:xfrm>
          <a:prstGeom prst="rect">
            <a:avLst/>
          </a:prstGeom>
          <a:noFill/>
          <a:ln/>
        </p:spPr>
        <p:txBody>
          <a:bodyPr wrap="square" lIns="0" tIns="0" rIns="0" bIns="0" rtlCol="0" anchor="ctr"/>
          <a:lstStyle/>
          <a:p>
            <a:pPr marL="0" indent="0" algn="l">
              <a:buNone/>
            </a:pPr>
            <a:r>
              <a:rPr lang="en-US" sz="1300" b="1" dirty="0">
                <a:solidFill>
                  <a:srgbClr val="1B4332"/>
                </a:solidFill>
                <a:latin typeface="Arial" pitchFamily="34" charset="0"/>
                <a:ea typeface="Arial" pitchFamily="34" charset="-122"/>
                <a:cs typeface="Arial" pitchFamily="34" charset="-120"/>
              </a:rPr>
              <a:t>AI Land</a:t>
            </a:r>
            <a:endParaRPr lang="en-US" sz="1300" dirty="0"/>
          </a:p>
          <a:p>
            <a:pPr marL="0" indent="0" algn="l">
              <a:buNone/>
            </a:pPr>
            <a:r>
              <a:rPr lang="en-US" sz="1300" b="1" dirty="0">
                <a:solidFill>
                  <a:srgbClr val="1B4332"/>
                </a:solidFill>
                <a:latin typeface="Arial" pitchFamily="34" charset="0"/>
                <a:ea typeface="Arial" pitchFamily="34" charset="-122"/>
                <a:cs typeface="Arial" pitchFamily="34" charset="-120"/>
              </a:rPr>
              <a:t>Classification</a:t>
            </a:r>
            <a:endParaRPr lang="en-US" sz="1300" dirty="0"/>
          </a:p>
        </p:txBody>
      </p:sp>
      <p:sp>
        <p:nvSpPr>
          <p:cNvPr id="85" name="Text 66"/>
          <p:cNvSpPr/>
          <p:nvPr/>
        </p:nvSpPr>
        <p:spPr>
          <a:xfrm>
            <a:off x="1965960" y="17785080"/>
            <a:ext cx="2560320" cy="548640"/>
          </a:xfrm>
          <a:prstGeom prst="rect">
            <a:avLst/>
          </a:prstGeom>
          <a:noFill/>
          <a:ln/>
        </p:spPr>
        <p:txBody>
          <a:bodyPr wrap="square" lIns="0" tIns="0" rIns="0" bIns="0" rtlCol="0" anchor="ctr"/>
          <a:lstStyle/>
          <a:p>
            <a:pPr marL="0" indent="0" algn="l">
              <a:lnSpc>
                <a:spcPct val="120000"/>
              </a:lnSpc>
              <a:buNone/>
            </a:pPr>
            <a:r>
              <a:rPr lang="en-US" sz="1250" dirty="0">
                <a:solidFill>
                  <a:srgbClr val="2C3E50"/>
                </a:solidFill>
                <a:latin typeface="Arial" pitchFamily="34" charset="0"/>
                <a:ea typeface="Arial" pitchFamily="34" charset="-122"/>
                <a:cs typeface="Arial" pitchFamily="34" charset="-120"/>
              </a:rPr>
              <a:t>Analyzes imagery + data to classify land use</a:t>
            </a:r>
            <a:endParaRPr lang="en-US" sz="1250" dirty="0"/>
          </a:p>
        </p:txBody>
      </p:sp>
      <p:sp>
        <p:nvSpPr>
          <p:cNvPr id="86" name="Shape 67"/>
          <p:cNvSpPr/>
          <p:nvPr/>
        </p:nvSpPr>
        <p:spPr>
          <a:xfrm>
            <a:off x="5120640" y="16916400"/>
            <a:ext cx="402336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87" name="Shape 68"/>
          <p:cNvSpPr/>
          <p:nvPr/>
        </p:nvSpPr>
        <p:spPr>
          <a:xfrm>
            <a:off x="5394960" y="17145000"/>
            <a:ext cx="777240" cy="777240"/>
          </a:xfrm>
          <a:prstGeom prst="ellipse">
            <a:avLst/>
          </a:prstGeom>
          <a:solidFill>
            <a:srgbClr val="D8F3DC"/>
          </a:solidFill>
          <a:ln/>
        </p:spPr>
        <p:txBody>
          <a:bodyPr/>
          <a:lstStyle/>
          <a:p>
            <a:endParaRPr lang="en-GB"/>
          </a:p>
        </p:txBody>
      </p:sp>
      <p:pic>
        <p:nvPicPr>
          <p:cNvPr id="88" name="Image 17" descr="preencoded.png"/>
          <p:cNvPicPr>
            <a:picLocks noChangeAspect="1"/>
          </p:cNvPicPr>
          <p:nvPr/>
        </p:nvPicPr>
        <p:blipFill>
          <a:blip r:embed="rId19"/>
          <a:stretch>
            <a:fillRect/>
          </a:stretch>
        </p:blipFill>
        <p:spPr>
          <a:xfrm>
            <a:off x="5532120" y="17282160"/>
            <a:ext cx="502920" cy="502920"/>
          </a:xfrm>
          <a:prstGeom prst="rect">
            <a:avLst/>
          </a:prstGeom>
        </p:spPr>
      </p:pic>
      <p:sp>
        <p:nvSpPr>
          <p:cNvPr id="89" name="Text 69"/>
          <p:cNvSpPr/>
          <p:nvPr/>
        </p:nvSpPr>
        <p:spPr>
          <a:xfrm>
            <a:off x="6355080" y="17053560"/>
            <a:ext cx="2560320" cy="640080"/>
          </a:xfrm>
          <a:prstGeom prst="rect">
            <a:avLst/>
          </a:prstGeom>
          <a:noFill/>
          <a:ln/>
        </p:spPr>
        <p:txBody>
          <a:bodyPr wrap="square" lIns="0" tIns="0" rIns="0" bIns="0" rtlCol="0" anchor="ctr"/>
          <a:lstStyle/>
          <a:p>
            <a:pPr marL="0" indent="0" algn="l">
              <a:buNone/>
            </a:pPr>
            <a:r>
              <a:rPr lang="en-US" sz="1300" b="1" dirty="0">
                <a:solidFill>
                  <a:srgbClr val="1B4332"/>
                </a:solidFill>
                <a:latin typeface="Arial" pitchFamily="34" charset="0"/>
                <a:ea typeface="Arial" pitchFamily="34" charset="-122"/>
                <a:cs typeface="Arial" pitchFamily="34" charset="-120"/>
              </a:rPr>
              <a:t>GPS Location</a:t>
            </a:r>
            <a:endParaRPr lang="en-US" sz="1300" dirty="0"/>
          </a:p>
          <a:p>
            <a:pPr marL="0" indent="0" algn="l">
              <a:buNone/>
            </a:pPr>
            <a:r>
              <a:rPr lang="en-US" sz="1300" b="1" dirty="0">
                <a:solidFill>
                  <a:srgbClr val="1B4332"/>
                </a:solidFill>
                <a:latin typeface="Arial" pitchFamily="34" charset="0"/>
                <a:ea typeface="Arial" pitchFamily="34" charset="-122"/>
                <a:cs typeface="Arial" pitchFamily="34" charset="-120"/>
              </a:rPr>
              <a:t>Input</a:t>
            </a:r>
            <a:endParaRPr lang="en-US" sz="1300" dirty="0"/>
          </a:p>
        </p:txBody>
      </p:sp>
      <p:sp>
        <p:nvSpPr>
          <p:cNvPr id="90" name="Text 70"/>
          <p:cNvSpPr/>
          <p:nvPr/>
        </p:nvSpPr>
        <p:spPr>
          <a:xfrm>
            <a:off x="6355080" y="17785080"/>
            <a:ext cx="2560320" cy="548640"/>
          </a:xfrm>
          <a:prstGeom prst="rect">
            <a:avLst/>
          </a:prstGeom>
          <a:noFill/>
          <a:ln/>
        </p:spPr>
        <p:txBody>
          <a:bodyPr wrap="square" lIns="0" tIns="0" rIns="0" bIns="0" rtlCol="0" anchor="ctr"/>
          <a:lstStyle/>
          <a:p>
            <a:pPr marL="0" indent="0" algn="l">
              <a:lnSpc>
                <a:spcPct val="120000"/>
              </a:lnSpc>
              <a:buNone/>
            </a:pPr>
            <a:r>
              <a:rPr lang="en-US" sz="1250" dirty="0">
                <a:solidFill>
                  <a:srgbClr val="2C3E50"/>
                </a:solidFill>
                <a:latin typeface="Arial" pitchFamily="34" charset="0"/>
                <a:ea typeface="Arial" pitchFamily="34" charset="-122"/>
                <a:cs typeface="Arial" pitchFamily="34" charset="-120"/>
              </a:rPr>
              <a:t>Coordinates or interactive map pin drop</a:t>
            </a:r>
            <a:endParaRPr lang="en-US" sz="1250" dirty="0"/>
          </a:p>
        </p:txBody>
      </p:sp>
      <p:sp>
        <p:nvSpPr>
          <p:cNvPr id="91" name="Shape 71"/>
          <p:cNvSpPr/>
          <p:nvPr/>
        </p:nvSpPr>
        <p:spPr>
          <a:xfrm>
            <a:off x="9509760" y="16916400"/>
            <a:ext cx="402336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92" name="Shape 72"/>
          <p:cNvSpPr/>
          <p:nvPr/>
        </p:nvSpPr>
        <p:spPr>
          <a:xfrm>
            <a:off x="9784080" y="17145000"/>
            <a:ext cx="777240" cy="777240"/>
          </a:xfrm>
          <a:prstGeom prst="ellipse">
            <a:avLst/>
          </a:prstGeom>
          <a:solidFill>
            <a:srgbClr val="D8F3DC"/>
          </a:solidFill>
          <a:ln/>
        </p:spPr>
        <p:txBody>
          <a:bodyPr/>
          <a:lstStyle/>
          <a:p>
            <a:endParaRPr lang="en-GB"/>
          </a:p>
        </p:txBody>
      </p:sp>
      <p:pic>
        <p:nvPicPr>
          <p:cNvPr id="93" name="Image 18" descr="preencoded.png"/>
          <p:cNvPicPr>
            <a:picLocks noChangeAspect="1"/>
          </p:cNvPicPr>
          <p:nvPr/>
        </p:nvPicPr>
        <p:blipFill>
          <a:blip r:embed="rId20"/>
          <a:stretch>
            <a:fillRect/>
          </a:stretch>
        </p:blipFill>
        <p:spPr>
          <a:xfrm>
            <a:off x="9921240" y="17282160"/>
            <a:ext cx="502920" cy="502920"/>
          </a:xfrm>
          <a:prstGeom prst="rect">
            <a:avLst/>
          </a:prstGeom>
        </p:spPr>
      </p:pic>
      <p:sp>
        <p:nvSpPr>
          <p:cNvPr id="94" name="Text 73"/>
          <p:cNvSpPr/>
          <p:nvPr/>
        </p:nvSpPr>
        <p:spPr>
          <a:xfrm>
            <a:off x="10744200" y="17053560"/>
            <a:ext cx="2560320" cy="640080"/>
          </a:xfrm>
          <a:prstGeom prst="rect">
            <a:avLst/>
          </a:prstGeom>
          <a:noFill/>
          <a:ln/>
        </p:spPr>
        <p:txBody>
          <a:bodyPr wrap="square" lIns="0" tIns="0" rIns="0" bIns="0" rtlCol="0" anchor="ctr"/>
          <a:lstStyle/>
          <a:p>
            <a:pPr marL="0" indent="0" algn="l">
              <a:buNone/>
            </a:pPr>
            <a:r>
              <a:rPr lang="en-US" sz="1300" b="1" dirty="0">
                <a:solidFill>
                  <a:srgbClr val="1B4332"/>
                </a:solidFill>
                <a:latin typeface="Arial" pitchFamily="34" charset="0"/>
                <a:ea typeface="Arial" pitchFamily="34" charset="-122"/>
                <a:cs typeface="Arial" pitchFamily="34" charset="-120"/>
              </a:rPr>
              <a:t>Heatmap</a:t>
            </a:r>
            <a:endParaRPr lang="en-US" sz="1300" dirty="0"/>
          </a:p>
          <a:p>
            <a:pPr marL="0" indent="0" algn="l">
              <a:buNone/>
            </a:pPr>
            <a:r>
              <a:rPr lang="en-US" sz="1300" b="1" dirty="0">
                <a:solidFill>
                  <a:srgbClr val="1B4332"/>
                </a:solidFill>
                <a:latin typeface="Arial" pitchFamily="34" charset="0"/>
                <a:ea typeface="Arial" pitchFamily="34" charset="-122"/>
                <a:cs typeface="Arial" pitchFamily="34" charset="-120"/>
              </a:rPr>
              <a:t>View</a:t>
            </a:r>
            <a:endParaRPr lang="en-US" sz="1300" dirty="0"/>
          </a:p>
        </p:txBody>
      </p:sp>
      <p:sp>
        <p:nvSpPr>
          <p:cNvPr id="95" name="Text 74"/>
          <p:cNvSpPr/>
          <p:nvPr/>
        </p:nvSpPr>
        <p:spPr>
          <a:xfrm>
            <a:off x="10744200" y="17785080"/>
            <a:ext cx="2560320" cy="548640"/>
          </a:xfrm>
          <a:prstGeom prst="rect">
            <a:avLst/>
          </a:prstGeom>
          <a:noFill/>
          <a:ln/>
        </p:spPr>
        <p:txBody>
          <a:bodyPr wrap="square" lIns="0" tIns="0" rIns="0" bIns="0" rtlCol="0" anchor="ctr"/>
          <a:lstStyle/>
          <a:p>
            <a:pPr marL="0" indent="0" algn="l">
              <a:lnSpc>
                <a:spcPct val="120000"/>
              </a:lnSpc>
              <a:buNone/>
            </a:pPr>
            <a:r>
              <a:rPr lang="en-US" sz="1250" dirty="0">
                <a:solidFill>
                  <a:srgbClr val="2C3E50"/>
                </a:solidFill>
                <a:latin typeface="Arial" pitchFamily="34" charset="0"/>
                <a:ea typeface="Arial" pitchFamily="34" charset="-122"/>
                <a:cs typeface="Arial" pitchFamily="34" charset="-120"/>
              </a:rPr>
              <a:t>Color-coded suitability zones across Jordan</a:t>
            </a:r>
            <a:endParaRPr lang="en-US" sz="1250" dirty="0"/>
          </a:p>
        </p:txBody>
      </p:sp>
      <p:sp>
        <p:nvSpPr>
          <p:cNvPr id="96" name="Shape 75"/>
          <p:cNvSpPr/>
          <p:nvPr/>
        </p:nvSpPr>
        <p:spPr>
          <a:xfrm>
            <a:off x="13898880" y="16916400"/>
            <a:ext cx="402336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97" name="Shape 76"/>
          <p:cNvSpPr/>
          <p:nvPr/>
        </p:nvSpPr>
        <p:spPr>
          <a:xfrm>
            <a:off x="14173200" y="17145000"/>
            <a:ext cx="777240" cy="777240"/>
          </a:xfrm>
          <a:prstGeom prst="ellipse">
            <a:avLst/>
          </a:prstGeom>
          <a:solidFill>
            <a:srgbClr val="D8F3DC"/>
          </a:solidFill>
          <a:ln/>
        </p:spPr>
        <p:txBody>
          <a:bodyPr/>
          <a:lstStyle/>
          <a:p>
            <a:endParaRPr lang="en-GB"/>
          </a:p>
        </p:txBody>
      </p:sp>
      <p:pic>
        <p:nvPicPr>
          <p:cNvPr id="98" name="Image 19" descr="preencoded.png"/>
          <p:cNvPicPr>
            <a:picLocks noChangeAspect="1"/>
          </p:cNvPicPr>
          <p:nvPr/>
        </p:nvPicPr>
        <p:blipFill>
          <a:blip r:embed="rId21"/>
          <a:stretch>
            <a:fillRect/>
          </a:stretch>
        </p:blipFill>
        <p:spPr>
          <a:xfrm>
            <a:off x="14310360" y="17282160"/>
            <a:ext cx="502920" cy="502920"/>
          </a:xfrm>
          <a:prstGeom prst="rect">
            <a:avLst/>
          </a:prstGeom>
        </p:spPr>
      </p:pic>
      <p:sp>
        <p:nvSpPr>
          <p:cNvPr id="99" name="Text 77"/>
          <p:cNvSpPr/>
          <p:nvPr/>
        </p:nvSpPr>
        <p:spPr>
          <a:xfrm>
            <a:off x="15133320" y="17053560"/>
            <a:ext cx="2560320" cy="640080"/>
          </a:xfrm>
          <a:prstGeom prst="rect">
            <a:avLst/>
          </a:prstGeom>
          <a:noFill/>
          <a:ln/>
        </p:spPr>
        <p:txBody>
          <a:bodyPr wrap="square" lIns="0" tIns="0" rIns="0" bIns="0" rtlCol="0" anchor="ctr"/>
          <a:lstStyle/>
          <a:p>
            <a:pPr marL="0" indent="0" algn="l">
              <a:buNone/>
            </a:pPr>
            <a:r>
              <a:rPr lang="en-US" sz="1300" b="1" dirty="0">
                <a:solidFill>
                  <a:srgbClr val="1B4332"/>
                </a:solidFill>
                <a:latin typeface="Arial" pitchFamily="34" charset="0"/>
                <a:ea typeface="Arial" pitchFamily="34" charset="-122"/>
                <a:cs typeface="Arial" pitchFamily="34" charset="-120"/>
              </a:rPr>
              <a:t>Historical</a:t>
            </a:r>
            <a:endParaRPr lang="en-US" sz="1300" dirty="0"/>
          </a:p>
          <a:p>
            <a:pPr marL="0" indent="0" algn="l">
              <a:buNone/>
            </a:pPr>
            <a:r>
              <a:rPr lang="en-US" sz="1300" b="1" dirty="0">
                <a:solidFill>
                  <a:srgbClr val="1B4332"/>
                </a:solidFill>
                <a:latin typeface="Arial" pitchFamily="34" charset="0"/>
                <a:ea typeface="Arial" pitchFamily="34" charset="-122"/>
                <a:cs typeface="Arial" pitchFamily="34" charset="-120"/>
              </a:rPr>
              <a:t>Analysis</a:t>
            </a:r>
            <a:endParaRPr lang="en-US" sz="1300" dirty="0"/>
          </a:p>
        </p:txBody>
      </p:sp>
      <p:sp>
        <p:nvSpPr>
          <p:cNvPr id="100" name="Text 78"/>
          <p:cNvSpPr/>
          <p:nvPr/>
        </p:nvSpPr>
        <p:spPr>
          <a:xfrm>
            <a:off x="15133320" y="17785080"/>
            <a:ext cx="2560320" cy="548640"/>
          </a:xfrm>
          <a:prstGeom prst="rect">
            <a:avLst/>
          </a:prstGeom>
          <a:noFill/>
          <a:ln/>
        </p:spPr>
        <p:txBody>
          <a:bodyPr wrap="square" lIns="0" tIns="0" rIns="0" bIns="0" rtlCol="0" anchor="ctr"/>
          <a:lstStyle/>
          <a:p>
            <a:pPr marL="0" indent="0" algn="l">
              <a:lnSpc>
                <a:spcPct val="120000"/>
              </a:lnSpc>
              <a:buNone/>
            </a:pPr>
            <a:r>
              <a:rPr lang="en-US" sz="1250" dirty="0">
                <a:solidFill>
                  <a:srgbClr val="2C3E50"/>
                </a:solidFill>
                <a:latin typeface="Arial" pitchFamily="34" charset="0"/>
                <a:ea typeface="Arial" pitchFamily="34" charset="-122"/>
                <a:cs typeface="Arial" pitchFamily="34" charset="-120"/>
              </a:rPr>
              <a:t>Visualize land changes over 10-20 years</a:t>
            </a:r>
            <a:endParaRPr lang="en-US" sz="1250" dirty="0"/>
          </a:p>
        </p:txBody>
      </p:sp>
      <p:sp>
        <p:nvSpPr>
          <p:cNvPr id="101" name="Shape 79"/>
          <p:cNvSpPr/>
          <p:nvPr/>
        </p:nvSpPr>
        <p:spPr>
          <a:xfrm>
            <a:off x="731520" y="18928080"/>
            <a:ext cx="402336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102" name="Shape 80"/>
          <p:cNvSpPr/>
          <p:nvPr/>
        </p:nvSpPr>
        <p:spPr>
          <a:xfrm>
            <a:off x="1005840" y="19156680"/>
            <a:ext cx="777240" cy="777240"/>
          </a:xfrm>
          <a:prstGeom prst="ellipse">
            <a:avLst/>
          </a:prstGeom>
          <a:solidFill>
            <a:srgbClr val="D8F3DC"/>
          </a:solidFill>
          <a:ln/>
        </p:spPr>
        <p:txBody>
          <a:bodyPr/>
          <a:lstStyle/>
          <a:p>
            <a:endParaRPr lang="en-GB"/>
          </a:p>
        </p:txBody>
      </p:sp>
      <p:pic>
        <p:nvPicPr>
          <p:cNvPr id="103" name="Image 20" descr="preencoded.png"/>
          <p:cNvPicPr>
            <a:picLocks noChangeAspect="1"/>
          </p:cNvPicPr>
          <p:nvPr/>
        </p:nvPicPr>
        <p:blipFill>
          <a:blip r:embed="rId22"/>
          <a:stretch>
            <a:fillRect/>
          </a:stretch>
        </p:blipFill>
        <p:spPr>
          <a:xfrm>
            <a:off x="1143000" y="19293840"/>
            <a:ext cx="502920" cy="502920"/>
          </a:xfrm>
          <a:prstGeom prst="rect">
            <a:avLst/>
          </a:prstGeom>
        </p:spPr>
      </p:pic>
      <p:sp>
        <p:nvSpPr>
          <p:cNvPr id="104" name="Text 81"/>
          <p:cNvSpPr/>
          <p:nvPr/>
        </p:nvSpPr>
        <p:spPr>
          <a:xfrm>
            <a:off x="1965960" y="19065240"/>
            <a:ext cx="2560320" cy="640080"/>
          </a:xfrm>
          <a:prstGeom prst="rect">
            <a:avLst/>
          </a:prstGeom>
          <a:noFill/>
          <a:ln/>
        </p:spPr>
        <p:txBody>
          <a:bodyPr wrap="square" lIns="0" tIns="0" rIns="0" bIns="0" rtlCol="0" anchor="ctr"/>
          <a:lstStyle/>
          <a:p>
            <a:pPr marL="0" indent="0" algn="l">
              <a:buNone/>
            </a:pPr>
            <a:r>
              <a:rPr lang="en-US" sz="1300" b="1" dirty="0">
                <a:solidFill>
                  <a:srgbClr val="1B4332"/>
                </a:solidFill>
                <a:latin typeface="Arial" pitchFamily="34" charset="0"/>
                <a:ea typeface="Arial" pitchFamily="34" charset="-122"/>
                <a:cs typeface="Arial" pitchFamily="34" charset="-120"/>
              </a:rPr>
              <a:t>Crop</a:t>
            </a:r>
            <a:endParaRPr lang="en-US" sz="1300" dirty="0"/>
          </a:p>
          <a:p>
            <a:pPr marL="0" indent="0" algn="l">
              <a:buNone/>
            </a:pPr>
            <a:r>
              <a:rPr lang="en-US" sz="1300" b="1" dirty="0">
                <a:solidFill>
                  <a:srgbClr val="1B4332"/>
                </a:solidFill>
                <a:latin typeface="Arial" pitchFamily="34" charset="0"/>
                <a:ea typeface="Arial" pitchFamily="34" charset="-122"/>
                <a:cs typeface="Arial" pitchFamily="34" charset="-120"/>
              </a:rPr>
              <a:t>Recommendation</a:t>
            </a:r>
            <a:endParaRPr lang="en-US" sz="1300" dirty="0"/>
          </a:p>
        </p:txBody>
      </p:sp>
      <p:sp>
        <p:nvSpPr>
          <p:cNvPr id="105" name="Text 82"/>
          <p:cNvSpPr/>
          <p:nvPr/>
        </p:nvSpPr>
        <p:spPr>
          <a:xfrm>
            <a:off x="1965960" y="19796760"/>
            <a:ext cx="2560320" cy="548640"/>
          </a:xfrm>
          <a:prstGeom prst="rect">
            <a:avLst/>
          </a:prstGeom>
          <a:noFill/>
          <a:ln/>
        </p:spPr>
        <p:txBody>
          <a:bodyPr wrap="square" lIns="0" tIns="0" rIns="0" bIns="0" rtlCol="0" anchor="ctr"/>
          <a:lstStyle/>
          <a:p>
            <a:pPr marL="0" indent="0" algn="l">
              <a:lnSpc>
                <a:spcPct val="120000"/>
              </a:lnSpc>
              <a:buNone/>
            </a:pPr>
            <a:r>
              <a:rPr lang="en-US" sz="1250" dirty="0">
                <a:solidFill>
                  <a:srgbClr val="2C3E50"/>
                </a:solidFill>
                <a:latin typeface="Arial" pitchFamily="34" charset="0"/>
                <a:ea typeface="Arial" pitchFamily="34" charset="-122"/>
                <a:cs typeface="Arial" pitchFamily="34" charset="-120"/>
              </a:rPr>
              <a:t>Best crops for specific soil &amp; climate</a:t>
            </a:r>
            <a:endParaRPr lang="en-US" sz="1250" dirty="0"/>
          </a:p>
        </p:txBody>
      </p:sp>
      <p:sp>
        <p:nvSpPr>
          <p:cNvPr id="106" name="Shape 83"/>
          <p:cNvSpPr/>
          <p:nvPr/>
        </p:nvSpPr>
        <p:spPr>
          <a:xfrm>
            <a:off x="5120640" y="18928080"/>
            <a:ext cx="402336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107" name="Shape 84"/>
          <p:cNvSpPr/>
          <p:nvPr/>
        </p:nvSpPr>
        <p:spPr>
          <a:xfrm>
            <a:off x="5394960" y="19156680"/>
            <a:ext cx="777240" cy="777240"/>
          </a:xfrm>
          <a:prstGeom prst="ellipse">
            <a:avLst/>
          </a:prstGeom>
          <a:solidFill>
            <a:srgbClr val="D8F3DC"/>
          </a:solidFill>
          <a:ln/>
        </p:spPr>
        <p:txBody>
          <a:bodyPr/>
          <a:lstStyle/>
          <a:p>
            <a:endParaRPr lang="en-GB"/>
          </a:p>
        </p:txBody>
      </p:sp>
      <p:pic>
        <p:nvPicPr>
          <p:cNvPr id="108" name="Image 21" descr="preencoded.png"/>
          <p:cNvPicPr>
            <a:picLocks noChangeAspect="1"/>
          </p:cNvPicPr>
          <p:nvPr/>
        </p:nvPicPr>
        <p:blipFill>
          <a:blip r:embed="rId23"/>
          <a:stretch>
            <a:fillRect/>
          </a:stretch>
        </p:blipFill>
        <p:spPr>
          <a:xfrm>
            <a:off x="5532120" y="19293840"/>
            <a:ext cx="502920" cy="502920"/>
          </a:xfrm>
          <a:prstGeom prst="rect">
            <a:avLst/>
          </a:prstGeom>
        </p:spPr>
      </p:pic>
      <p:sp>
        <p:nvSpPr>
          <p:cNvPr id="109" name="Text 85"/>
          <p:cNvSpPr/>
          <p:nvPr/>
        </p:nvSpPr>
        <p:spPr>
          <a:xfrm>
            <a:off x="6355080" y="19065240"/>
            <a:ext cx="2560320" cy="640080"/>
          </a:xfrm>
          <a:prstGeom prst="rect">
            <a:avLst/>
          </a:prstGeom>
          <a:noFill/>
          <a:ln/>
        </p:spPr>
        <p:txBody>
          <a:bodyPr wrap="square" lIns="0" tIns="0" rIns="0" bIns="0" rtlCol="0" anchor="ctr"/>
          <a:lstStyle/>
          <a:p>
            <a:pPr marL="0" indent="0" algn="l">
              <a:buNone/>
            </a:pPr>
            <a:r>
              <a:rPr lang="en-US" sz="1300" b="1" dirty="0">
                <a:solidFill>
                  <a:srgbClr val="1B4332"/>
                </a:solidFill>
                <a:latin typeface="Arial" pitchFamily="34" charset="0"/>
                <a:ea typeface="Arial" pitchFamily="34" charset="-122"/>
                <a:cs typeface="Arial" pitchFamily="34" charset="-120"/>
              </a:rPr>
              <a:t>PDF Land</a:t>
            </a:r>
            <a:endParaRPr lang="en-US" sz="1300" dirty="0"/>
          </a:p>
          <a:p>
            <a:pPr marL="0" indent="0" algn="l">
              <a:buNone/>
            </a:pPr>
            <a:r>
              <a:rPr lang="en-US" sz="1300" b="1" dirty="0">
                <a:solidFill>
                  <a:srgbClr val="1B4332"/>
                </a:solidFill>
                <a:latin typeface="Arial" pitchFamily="34" charset="0"/>
                <a:ea typeface="Arial" pitchFamily="34" charset="-122"/>
                <a:cs typeface="Arial" pitchFamily="34" charset="-120"/>
              </a:rPr>
              <a:t>Report</a:t>
            </a:r>
            <a:endParaRPr lang="en-US" sz="1300" dirty="0"/>
          </a:p>
        </p:txBody>
      </p:sp>
      <p:sp>
        <p:nvSpPr>
          <p:cNvPr id="110" name="Text 86"/>
          <p:cNvSpPr/>
          <p:nvPr/>
        </p:nvSpPr>
        <p:spPr>
          <a:xfrm>
            <a:off x="6355080" y="19796760"/>
            <a:ext cx="2560320" cy="548640"/>
          </a:xfrm>
          <a:prstGeom prst="rect">
            <a:avLst/>
          </a:prstGeom>
          <a:noFill/>
          <a:ln/>
        </p:spPr>
        <p:txBody>
          <a:bodyPr wrap="square" lIns="0" tIns="0" rIns="0" bIns="0" rtlCol="0" anchor="ctr"/>
          <a:lstStyle/>
          <a:p>
            <a:pPr marL="0" indent="0" algn="l">
              <a:lnSpc>
                <a:spcPct val="120000"/>
              </a:lnSpc>
              <a:buNone/>
            </a:pPr>
            <a:r>
              <a:rPr lang="en-US" sz="1250" dirty="0">
                <a:solidFill>
                  <a:srgbClr val="2C3E50"/>
                </a:solidFill>
                <a:latin typeface="Arial" pitchFamily="34" charset="0"/>
                <a:ea typeface="Arial" pitchFamily="34" charset="-122"/>
                <a:cs typeface="Arial" pitchFamily="34" charset="-120"/>
              </a:rPr>
              <a:t>Downloadable professional report</a:t>
            </a:r>
            <a:endParaRPr lang="en-US" sz="1250" dirty="0"/>
          </a:p>
        </p:txBody>
      </p:sp>
      <p:sp>
        <p:nvSpPr>
          <p:cNvPr id="111" name="Shape 87"/>
          <p:cNvSpPr/>
          <p:nvPr/>
        </p:nvSpPr>
        <p:spPr>
          <a:xfrm>
            <a:off x="9509760" y="18928080"/>
            <a:ext cx="402336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112" name="Shape 88"/>
          <p:cNvSpPr/>
          <p:nvPr/>
        </p:nvSpPr>
        <p:spPr>
          <a:xfrm>
            <a:off x="9784080" y="19156680"/>
            <a:ext cx="777240" cy="777240"/>
          </a:xfrm>
          <a:prstGeom prst="ellipse">
            <a:avLst/>
          </a:prstGeom>
          <a:solidFill>
            <a:srgbClr val="D8F3DC"/>
          </a:solidFill>
          <a:ln/>
        </p:spPr>
        <p:txBody>
          <a:bodyPr/>
          <a:lstStyle/>
          <a:p>
            <a:endParaRPr lang="en-GB"/>
          </a:p>
        </p:txBody>
      </p:sp>
      <p:pic>
        <p:nvPicPr>
          <p:cNvPr id="113" name="Image 22" descr="preencoded.png"/>
          <p:cNvPicPr>
            <a:picLocks noChangeAspect="1"/>
          </p:cNvPicPr>
          <p:nvPr/>
        </p:nvPicPr>
        <p:blipFill>
          <a:blip r:embed="rId24"/>
          <a:stretch>
            <a:fillRect/>
          </a:stretch>
        </p:blipFill>
        <p:spPr>
          <a:xfrm>
            <a:off x="9921240" y="19293840"/>
            <a:ext cx="502920" cy="502920"/>
          </a:xfrm>
          <a:prstGeom prst="rect">
            <a:avLst/>
          </a:prstGeom>
        </p:spPr>
      </p:pic>
      <p:sp>
        <p:nvSpPr>
          <p:cNvPr id="114" name="Text 89"/>
          <p:cNvSpPr/>
          <p:nvPr/>
        </p:nvSpPr>
        <p:spPr>
          <a:xfrm>
            <a:off x="10744200" y="19065240"/>
            <a:ext cx="2560320" cy="640080"/>
          </a:xfrm>
          <a:prstGeom prst="rect">
            <a:avLst/>
          </a:prstGeom>
          <a:noFill/>
          <a:ln/>
        </p:spPr>
        <p:txBody>
          <a:bodyPr wrap="square" lIns="0" tIns="0" rIns="0" bIns="0" rtlCol="0" anchor="ctr"/>
          <a:lstStyle/>
          <a:p>
            <a:pPr marL="0" indent="0" algn="l">
              <a:buNone/>
            </a:pPr>
            <a:r>
              <a:rPr lang="en-US" sz="1300" b="1" dirty="0">
                <a:solidFill>
                  <a:srgbClr val="1B4332"/>
                </a:solidFill>
                <a:latin typeface="Arial" pitchFamily="34" charset="0"/>
                <a:ea typeface="Arial" pitchFamily="34" charset="-122"/>
                <a:cs typeface="Arial" pitchFamily="34" charset="-120"/>
              </a:rPr>
              <a:t>Alert</a:t>
            </a:r>
            <a:endParaRPr lang="en-US" sz="1300" dirty="0"/>
          </a:p>
          <a:p>
            <a:pPr marL="0" indent="0" algn="l">
              <a:buNone/>
            </a:pPr>
            <a:r>
              <a:rPr lang="en-US" sz="1300" b="1" dirty="0">
                <a:solidFill>
                  <a:srgbClr val="1B4332"/>
                </a:solidFill>
                <a:latin typeface="Arial" pitchFamily="34" charset="0"/>
                <a:ea typeface="Arial" pitchFamily="34" charset="-122"/>
                <a:cs typeface="Arial" pitchFamily="34" charset="-120"/>
              </a:rPr>
              <a:t>System</a:t>
            </a:r>
            <a:endParaRPr lang="en-US" sz="1300" dirty="0"/>
          </a:p>
        </p:txBody>
      </p:sp>
      <p:sp>
        <p:nvSpPr>
          <p:cNvPr id="115" name="Text 90"/>
          <p:cNvSpPr/>
          <p:nvPr/>
        </p:nvSpPr>
        <p:spPr>
          <a:xfrm>
            <a:off x="10744200" y="19796760"/>
            <a:ext cx="2560320" cy="548640"/>
          </a:xfrm>
          <a:prstGeom prst="rect">
            <a:avLst/>
          </a:prstGeom>
          <a:noFill/>
          <a:ln/>
        </p:spPr>
        <p:txBody>
          <a:bodyPr wrap="square" lIns="0" tIns="0" rIns="0" bIns="0" rtlCol="0" anchor="ctr"/>
          <a:lstStyle/>
          <a:p>
            <a:pPr marL="0" indent="0" algn="l">
              <a:lnSpc>
                <a:spcPct val="120000"/>
              </a:lnSpc>
              <a:buNone/>
            </a:pPr>
            <a:r>
              <a:rPr lang="en-US" sz="1250" dirty="0">
                <a:solidFill>
                  <a:srgbClr val="2C3E50"/>
                </a:solidFill>
                <a:latin typeface="Arial" pitchFamily="34" charset="0"/>
                <a:ea typeface="Arial" pitchFamily="34" charset="-122"/>
                <a:cs typeface="Arial" pitchFamily="34" charset="-120"/>
              </a:rPr>
              <a:t>Notifies when fertile land is at risk</a:t>
            </a:r>
            <a:endParaRPr lang="en-US" sz="1250" dirty="0"/>
          </a:p>
        </p:txBody>
      </p:sp>
      <p:sp>
        <p:nvSpPr>
          <p:cNvPr id="116" name="Shape 91"/>
          <p:cNvSpPr/>
          <p:nvPr/>
        </p:nvSpPr>
        <p:spPr>
          <a:xfrm>
            <a:off x="13898880" y="18928080"/>
            <a:ext cx="402336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117" name="Shape 92"/>
          <p:cNvSpPr/>
          <p:nvPr/>
        </p:nvSpPr>
        <p:spPr>
          <a:xfrm>
            <a:off x="14173200" y="19156680"/>
            <a:ext cx="777240" cy="777240"/>
          </a:xfrm>
          <a:prstGeom prst="ellipse">
            <a:avLst/>
          </a:prstGeom>
          <a:solidFill>
            <a:srgbClr val="D8F3DC"/>
          </a:solidFill>
          <a:ln/>
        </p:spPr>
        <p:txBody>
          <a:bodyPr/>
          <a:lstStyle/>
          <a:p>
            <a:endParaRPr lang="en-GB"/>
          </a:p>
        </p:txBody>
      </p:sp>
      <p:pic>
        <p:nvPicPr>
          <p:cNvPr id="118" name="Image 23" descr="preencoded.png"/>
          <p:cNvPicPr>
            <a:picLocks noChangeAspect="1"/>
          </p:cNvPicPr>
          <p:nvPr/>
        </p:nvPicPr>
        <p:blipFill>
          <a:blip r:embed="rId25"/>
          <a:stretch>
            <a:fillRect/>
          </a:stretch>
        </p:blipFill>
        <p:spPr>
          <a:xfrm>
            <a:off x="14310360" y="19293840"/>
            <a:ext cx="502920" cy="502920"/>
          </a:xfrm>
          <a:prstGeom prst="rect">
            <a:avLst/>
          </a:prstGeom>
        </p:spPr>
      </p:pic>
      <p:sp>
        <p:nvSpPr>
          <p:cNvPr id="119" name="Text 93"/>
          <p:cNvSpPr/>
          <p:nvPr/>
        </p:nvSpPr>
        <p:spPr>
          <a:xfrm>
            <a:off x="15133320" y="19065240"/>
            <a:ext cx="2560320" cy="640080"/>
          </a:xfrm>
          <a:prstGeom prst="rect">
            <a:avLst/>
          </a:prstGeom>
          <a:noFill/>
          <a:ln/>
        </p:spPr>
        <p:txBody>
          <a:bodyPr wrap="square" lIns="0" tIns="0" rIns="0" bIns="0" rtlCol="0" anchor="ctr"/>
          <a:lstStyle/>
          <a:p>
            <a:pPr marL="0" indent="0" algn="l">
              <a:buNone/>
            </a:pPr>
            <a:r>
              <a:rPr lang="en-US" sz="1300" b="1" dirty="0">
                <a:solidFill>
                  <a:srgbClr val="1B4332"/>
                </a:solidFill>
                <a:latin typeface="Arial" pitchFamily="34" charset="0"/>
                <a:ea typeface="Arial" pitchFamily="34" charset="-122"/>
                <a:cs typeface="Arial" pitchFamily="34" charset="-120"/>
              </a:rPr>
              <a:t>Offline</a:t>
            </a:r>
            <a:endParaRPr lang="en-US" sz="1300" dirty="0"/>
          </a:p>
          <a:p>
            <a:pPr marL="0" indent="0" algn="l">
              <a:buNone/>
            </a:pPr>
            <a:r>
              <a:rPr lang="en-US" sz="1300" b="1" dirty="0">
                <a:solidFill>
                  <a:srgbClr val="1B4332"/>
                </a:solidFill>
                <a:latin typeface="Arial" pitchFamily="34" charset="0"/>
                <a:ea typeface="Arial" pitchFamily="34" charset="-122"/>
                <a:cs typeface="Arial" pitchFamily="34" charset="-120"/>
              </a:rPr>
              <a:t>Mode</a:t>
            </a:r>
            <a:endParaRPr lang="en-US" sz="1300" dirty="0"/>
          </a:p>
        </p:txBody>
      </p:sp>
      <p:sp>
        <p:nvSpPr>
          <p:cNvPr id="120" name="Text 94"/>
          <p:cNvSpPr/>
          <p:nvPr/>
        </p:nvSpPr>
        <p:spPr>
          <a:xfrm>
            <a:off x="15133320" y="19796760"/>
            <a:ext cx="2560320" cy="548640"/>
          </a:xfrm>
          <a:prstGeom prst="rect">
            <a:avLst/>
          </a:prstGeom>
          <a:noFill/>
          <a:ln/>
        </p:spPr>
        <p:txBody>
          <a:bodyPr wrap="square" lIns="0" tIns="0" rIns="0" bIns="0" rtlCol="0" anchor="ctr"/>
          <a:lstStyle/>
          <a:p>
            <a:pPr marL="0" indent="0" algn="l">
              <a:lnSpc>
                <a:spcPct val="120000"/>
              </a:lnSpc>
              <a:buNone/>
            </a:pPr>
            <a:r>
              <a:rPr lang="en-US" sz="1250" dirty="0">
                <a:solidFill>
                  <a:srgbClr val="2C3E50"/>
                </a:solidFill>
                <a:latin typeface="Arial" pitchFamily="34" charset="0"/>
                <a:ea typeface="Arial" pitchFamily="34" charset="-122"/>
                <a:cs typeface="Arial" pitchFamily="34" charset="-120"/>
              </a:rPr>
              <a:t>Works in rural areas without internet</a:t>
            </a:r>
            <a:endParaRPr lang="en-US" sz="1250" dirty="0"/>
          </a:p>
        </p:txBody>
      </p:sp>
      <p:sp>
        <p:nvSpPr>
          <p:cNvPr id="121" name="Shape 95"/>
          <p:cNvSpPr/>
          <p:nvPr/>
        </p:nvSpPr>
        <p:spPr>
          <a:xfrm>
            <a:off x="731520" y="20848320"/>
            <a:ext cx="8229600" cy="23774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122" name="Shape 96"/>
          <p:cNvSpPr/>
          <p:nvPr/>
        </p:nvSpPr>
        <p:spPr>
          <a:xfrm>
            <a:off x="731520" y="20848320"/>
            <a:ext cx="8229600" cy="73152"/>
          </a:xfrm>
          <a:prstGeom prst="rect">
            <a:avLst/>
          </a:prstGeom>
          <a:solidFill>
            <a:srgbClr val="2D6A4F"/>
          </a:solidFill>
          <a:ln/>
        </p:spPr>
        <p:txBody>
          <a:bodyPr/>
          <a:lstStyle/>
          <a:p>
            <a:endParaRPr lang="en-GB"/>
          </a:p>
        </p:txBody>
      </p:sp>
      <p:sp>
        <p:nvSpPr>
          <p:cNvPr id="123" name="Text 97"/>
          <p:cNvSpPr/>
          <p:nvPr/>
        </p:nvSpPr>
        <p:spPr>
          <a:xfrm>
            <a:off x="1097280" y="20985480"/>
            <a:ext cx="7315200" cy="457200"/>
          </a:xfrm>
          <a:prstGeom prst="rect">
            <a:avLst/>
          </a:prstGeom>
          <a:noFill/>
          <a:ln/>
        </p:spPr>
        <p:txBody>
          <a:bodyPr wrap="square" lIns="0" tIns="0" rIns="0" bIns="0" rtlCol="0" anchor="ctr"/>
          <a:lstStyle/>
          <a:p>
            <a:pPr marL="0" indent="0" algn="l">
              <a:buNone/>
            </a:pPr>
            <a:r>
              <a:rPr lang="en-US" sz="2000" b="1" dirty="0">
                <a:solidFill>
                  <a:srgbClr val="1B4332"/>
                </a:solidFill>
                <a:latin typeface="Georgia" pitchFamily="34" charset="0"/>
                <a:ea typeface="Georgia" pitchFamily="34" charset="-122"/>
                <a:cs typeface="Georgia" pitchFamily="34" charset="-120"/>
              </a:rPr>
              <a:t>Data Sources &amp; Technology</a:t>
            </a:r>
            <a:endParaRPr lang="en-US" sz="2000" dirty="0"/>
          </a:p>
        </p:txBody>
      </p:sp>
      <p:pic>
        <p:nvPicPr>
          <p:cNvPr id="124" name="Image 24" descr="preencoded.png"/>
          <p:cNvPicPr>
            <a:picLocks noChangeAspect="1"/>
          </p:cNvPicPr>
          <p:nvPr/>
        </p:nvPicPr>
        <p:blipFill>
          <a:blip r:embed="rId26"/>
          <a:stretch>
            <a:fillRect/>
          </a:stretch>
        </p:blipFill>
        <p:spPr>
          <a:xfrm>
            <a:off x="1097280" y="21643848"/>
            <a:ext cx="292608" cy="292608"/>
          </a:xfrm>
          <a:prstGeom prst="rect">
            <a:avLst/>
          </a:prstGeom>
        </p:spPr>
      </p:pic>
      <p:sp>
        <p:nvSpPr>
          <p:cNvPr id="125" name="Text 98"/>
          <p:cNvSpPr/>
          <p:nvPr/>
        </p:nvSpPr>
        <p:spPr>
          <a:xfrm>
            <a:off x="1508760" y="21579840"/>
            <a:ext cx="2103120" cy="411480"/>
          </a:xfrm>
          <a:prstGeom prst="rect">
            <a:avLst/>
          </a:prstGeom>
          <a:noFill/>
          <a:ln/>
        </p:spPr>
        <p:txBody>
          <a:bodyPr wrap="square" lIns="0" tIns="0" rIns="0" bIns="0" rtlCol="0" anchor="ctr"/>
          <a:lstStyle/>
          <a:p>
            <a:pPr marL="0" indent="0" algn="l">
              <a:buNone/>
            </a:pPr>
            <a:r>
              <a:rPr lang="en-US" sz="1300" dirty="0">
                <a:solidFill>
                  <a:srgbClr val="2C3E50"/>
                </a:solidFill>
                <a:latin typeface="Arial" pitchFamily="34" charset="0"/>
                <a:ea typeface="Arial" pitchFamily="34" charset="-122"/>
                <a:cs typeface="Arial" pitchFamily="34" charset="-120"/>
              </a:rPr>
              <a:t>Satellite/Aerial Imagery</a:t>
            </a:r>
            <a:endParaRPr lang="en-US" sz="1300" dirty="0"/>
          </a:p>
        </p:txBody>
      </p:sp>
      <p:pic>
        <p:nvPicPr>
          <p:cNvPr id="126" name="Image 25" descr="preencoded.png"/>
          <p:cNvPicPr>
            <a:picLocks noChangeAspect="1"/>
          </p:cNvPicPr>
          <p:nvPr/>
        </p:nvPicPr>
        <p:blipFill>
          <a:blip r:embed="rId22"/>
          <a:stretch>
            <a:fillRect/>
          </a:stretch>
        </p:blipFill>
        <p:spPr>
          <a:xfrm>
            <a:off x="3749040" y="21643848"/>
            <a:ext cx="292608" cy="292608"/>
          </a:xfrm>
          <a:prstGeom prst="rect">
            <a:avLst/>
          </a:prstGeom>
        </p:spPr>
      </p:pic>
      <p:sp>
        <p:nvSpPr>
          <p:cNvPr id="127" name="Text 99"/>
          <p:cNvSpPr/>
          <p:nvPr/>
        </p:nvSpPr>
        <p:spPr>
          <a:xfrm>
            <a:off x="4160520" y="21579840"/>
            <a:ext cx="2103120" cy="411480"/>
          </a:xfrm>
          <a:prstGeom prst="rect">
            <a:avLst/>
          </a:prstGeom>
          <a:noFill/>
          <a:ln/>
        </p:spPr>
        <p:txBody>
          <a:bodyPr wrap="square" lIns="0" tIns="0" rIns="0" bIns="0" rtlCol="0" anchor="ctr"/>
          <a:lstStyle/>
          <a:p>
            <a:pPr marL="0" indent="0" algn="l">
              <a:buNone/>
            </a:pPr>
            <a:r>
              <a:rPr lang="en-US" sz="1300" dirty="0">
                <a:solidFill>
                  <a:srgbClr val="2C3E50"/>
                </a:solidFill>
                <a:latin typeface="Arial" pitchFamily="34" charset="0"/>
                <a:ea typeface="Arial" pitchFamily="34" charset="-122"/>
                <a:cs typeface="Arial" pitchFamily="34" charset="-120"/>
              </a:rPr>
              <a:t>Soil Quality Data</a:t>
            </a:r>
            <a:endParaRPr lang="en-US" sz="1300" dirty="0"/>
          </a:p>
        </p:txBody>
      </p:sp>
      <p:pic>
        <p:nvPicPr>
          <p:cNvPr id="128" name="Image 26" descr="preencoded.png"/>
          <p:cNvPicPr>
            <a:picLocks noChangeAspect="1"/>
          </p:cNvPicPr>
          <p:nvPr/>
        </p:nvPicPr>
        <p:blipFill>
          <a:blip r:embed="rId27"/>
          <a:stretch>
            <a:fillRect/>
          </a:stretch>
        </p:blipFill>
        <p:spPr>
          <a:xfrm>
            <a:off x="6400800" y="21643848"/>
            <a:ext cx="292608" cy="292608"/>
          </a:xfrm>
          <a:prstGeom prst="rect">
            <a:avLst/>
          </a:prstGeom>
        </p:spPr>
      </p:pic>
      <p:sp>
        <p:nvSpPr>
          <p:cNvPr id="129" name="Text 100"/>
          <p:cNvSpPr/>
          <p:nvPr/>
        </p:nvSpPr>
        <p:spPr>
          <a:xfrm>
            <a:off x="6812280" y="21579840"/>
            <a:ext cx="2103120" cy="411480"/>
          </a:xfrm>
          <a:prstGeom prst="rect">
            <a:avLst/>
          </a:prstGeom>
          <a:noFill/>
          <a:ln/>
        </p:spPr>
        <p:txBody>
          <a:bodyPr wrap="square" lIns="0" tIns="0" rIns="0" bIns="0" rtlCol="0" anchor="ctr"/>
          <a:lstStyle/>
          <a:p>
            <a:pPr marL="0" indent="0" algn="l">
              <a:buNone/>
            </a:pPr>
            <a:r>
              <a:rPr lang="en-US" sz="1300" dirty="0">
                <a:solidFill>
                  <a:srgbClr val="2C3E50"/>
                </a:solidFill>
                <a:latin typeface="Arial" pitchFamily="34" charset="0"/>
                <a:ea typeface="Arial" pitchFamily="34" charset="-122"/>
                <a:cs typeface="Arial" pitchFamily="34" charset="-120"/>
              </a:rPr>
              <a:t>Water Availability</a:t>
            </a:r>
            <a:endParaRPr lang="en-US" sz="1300" dirty="0"/>
          </a:p>
        </p:txBody>
      </p:sp>
      <p:pic>
        <p:nvPicPr>
          <p:cNvPr id="130" name="Image 27" descr="preencoded.png"/>
          <p:cNvPicPr>
            <a:picLocks noChangeAspect="1"/>
          </p:cNvPicPr>
          <p:nvPr/>
        </p:nvPicPr>
        <p:blipFill>
          <a:blip r:embed="rId28"/>
          <a:stretch>
            <a:fillRect/>
          </a:stretch>
        </p:blipFill>
        <p:spPr>
          <a:xfrm>
            <a:off x="1097280" y="22421088"/>
            <a:ext cx="292608" cy="292608"/>
          </a:xfrm>
          <a:prstGeom prst="rect">
            <a:avLst/>
          </a:prstGeom>
        </p:spPr>
      </p:pic>
      <p:sp>
        <p:nvSpPr>
          <p:cNvPr id="131" name="Text 101"/>
          <p:cNvSpPr/>
          <p:nvPr/>
        </p:nvSpPr>
        <p:spPr>
          <a:xfrm>
            <a:off x="1508760" y="22357080"/>
            <a:ext cx="2103120" cy="411480"/>
          </a:xfrm>
          <a:prstGeom prst="rect">
            <a:avLst/>
          </a:prstGeom>
          <a:noFill/>
          <a:ln/>
        </p:spPr>
        <p:txBody>
          <a:bodyPr wrap="square" lIns="0" tIns="0" rIns="0" bIns="0" rtlCol="0" anchor="ctr"/>
          <a:lstStyle/>
          <a:p>
            <a:pPr marL="0" indent="0" algn="l">
              <a:buNone/>
            </a:pPr>
            <a:r>
              <a:rPr lang="en-US" sz="1300" dirty="0">
                <a:solidFill>
                  <a:srgbClr val="2C3E50"/>
                </a:solidFill>
                <a:latin typeface="Arial" pitchFamily="34" charset="0"/>
                <a:ea typeface="Arial" pitchFamily="34" charset="-122"/>
                <a:cs typeface="Arial" pitchFamily="34" charset="-120"/>
              </a:rPr>
              <a:t>Weather/Climate Data</a:t>
            </a:r>
            <a:endParaRPr lang="en-US" sz="1300" dirty="0"/>
          </a:p>
        </p:txBody>
      </p:sp>
      <p:pic>
        <p:nvPicPr>
          <p:cNvPr id="132" name="Image 28" descr="preencoded.png"/>
          <p:cNvPicPr>
            <a:picLocks noChangeAspect="1"/>
          </p:cNvPicPr>
          <p:nvPr/>
        </p:nvPicPr>
        <p:blipFill>
          <a:blip r:embed="rId29"/>
          <a:stretch>
            <a:fillRect/>
          </a:stretch>
        </p:blipFill>
        <p:spPr>
          <a:xfrm>
            <a:off x="3749040" y="22421088"/>
            <a:ext cx="292608" cy="292608"/>
          </a:xfrm>
          <a:prstGeom prst="rect">
            <a:avLst/>
          </a:prstGeom>
        </p:spPr>
      </p:pic>
      <p:sp>
        <p:nvSpPr>
          <p:cNvPr id="133" name="Text 102"/>
          <p:cNvSpPr/>
          <p:nvPr/>
        </p:nvSpPr>
        <p:spPr>
          <a:xfrm>
            <a:off x="4160520" y="22357080"/>
            <a:ext cx="2103120" cy="411480"/>
          </a:xfrm>
          <a:prstGeom prst="rect">
            <a:avLst/>
          </a:prstGeom>
          <a:noFill/>
          <a:ln/>
        </p:spPr>
        <p:txBody>
          <a:bodyPr wrap="square" lIns="0" tIns="0" rIns="0" bIns="0" rtlCol="0" anchor="ctr"/>
          <a:lstStyle/>
          <a:p>
            <a:pPr marL="0" indent="0" algn="l">
              <a:buNone/>
            </a:pPr>
            <a:r>
              <a:rPr lang="en-US" sz="1300" dirty="0">
                <a:solidFill>
                  <a:srgbClr val="2C3E50"/>
                </a:solidFill>
                <a:latin typeface="Arial" pitchFamily="34" charset="0"/>
                <a:ea typeface="Arial" pitchFamily="34" charset="-122"/>
                <a:cs typeface="Arial" pitchFamily="34" charset="-120"/>
              </a:rPr>
              <a:t>Infrastructure Maps</a:t>
            </a:r>
            <a:endParaRPr lang="en-US" sz="1300" dirty="0"/>
          </a:p>
        </p:txBody>
      </p:sp>
      <p:pic>
        <p:nvPicPr>
          <p:cNvPr id="134" name="Image 29" descr="preencoded.png"/>
          <p:cNvPicPr>
            <a:picLocks noChangeAspect="1"/>
          </p:cNvPicPr>
          <p:nvPr/>
        </p:nvPicPr>
        <p:blipFill>
          <a:blip r:embed="rId30"/>
          <a:stretch>
            <a:fillRect/>
          </a:stretch>
        </p:blipFill>
        <p:spPr>
          <a:xfrm>
            <a:off x="6400800" y="22421088"/>
            <a:ext cx="292608" cy="292608"/>
          </a:xfrm>
          <a:prstGeom prst="rect">
            <a:avLst/>
          </a:prstGeom>
        </p:spPr>
      </p:pic>
      <p:sp>
        <p:nvSpPr>
          <p:cNvPr id="135" name="Text 103"/>
          <p:cNvSpPr/>
          <p:nvPr/>
        </p:nvSpPr>
        <p:spPr>
          <a:xfrm>
            <a:off x="6812280" y="22357080"/>
            <a:ext cx="2103120" cy="411480"/>
          </a:xfrm>
          <a:prstGeom prst="rect">
            <a:avLst/>
          </a:prstGeom>
          <a:noFill/>
          <a:ln/>
        </p:spPr>
        <p:txBody>
          <a:bodyPr wrap="square" lIns="0" tIns="0" rIns="0" bIns="0" rtlCol="0" anchor="ctr"/>
          <a:lstStyle/>
          <a:p>
            <a:pPr marL="0" indent="0" algn="l">
              <a:buNone/>
            </a:pPr>
            <a:r>
              <a:rPr lang="en-US" sz="1300" dirty="0">
                <a:solidFill>
                  <a:srgbClr val="2C3E50"/>
                </a:solidFill>
                <a:latin typeface="Arial" pitchFamily="34" charset="0"/>
                <a:ea typeface="Arial" pitchFamily="34" charset="-122"/>
                <a:cs typeface="Arial" pitchFamily="34" charset="-120"/>
              </a:rPr>
              <a:t>Government Zoning</a:t>
            </a:r>
            <a:endParaRPr lang="en-US" sz="1300" dirty="0"/>
          </a:p>
        </p:txBody>
      </p:sp>
      <p:sp>
        <p:nvSpPr>
          <p:cNvPr id="136" name="Shape 104"/>
          <p:cNvSpPr/>
          <p:nvPr/>
        </p:nvSpPr>
        <p:spPr>
          <a:xfrm>
            <a:off x="9509760" y="20848320"/>
            <a:ext cx="8046720" cy="23774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GB"/>
          </a:p>
        </p:txBody>
      </p:sp>
      <p:sp>
        <p:nvSpPr>
          <p:cNvPr id="137" name="Shape 105"/>
          <p:cNvSpPr/>
          <p:nvPr/>
        </p:nvSpPr>
        <p:spPr>
          <a:xfrm>
            <a:off x="9509760" y="20848320"/>
            <a:ext cx="8046720" cy="73152"/>
          </a:xfrm>
          <a:prstGeom prst="rect">
            <a:avLst/>
          </a:prstGeom>
          <a:solidFill>
            <a:srgbClr val="DDA15E"/>
          </a:solidFill>
          <a:ln/>
        </p:spPr>
        <p:txBody>
          <a:bodyPr/>
          <a:lstStyle/>
          <a:p>
            <a:endParaRPr lang="en-GB"/>
          </a:p>
        </p:txBody>
      </p:sp>
      <p:sp>
        <p:nvSpPr>
          <p:cNvPr id="138" name="Text 106"/>
          <p:cNvSpPr/>
          <p:nvPr/>
        </p:nvSpPr>
        <p:spPr>
          <a:xfrm>
            <a:off x="9875520" y="20985480"/>
            <a:ext cx="7315200" cy="457200"/>
          </a:xfrm>
          <a:prstGeom prst="rect">
            <a:avLst/>
          </a:prstGeom>
          <a:noFill/>
          <a:ln/>
        </p:spPr>
        <p:txBody>
          <a:bodyPr wrap="square" lIns="0" tIns="0" rIns="0" bIns="0" rtlCol="0" anchor="ctr"/>
          <a:lstStyle/>
          <a:p>
            <a:pPr marL="0" indent="0" algn="l">
              <a:buNone/>
            </a:pPr>
            <a:r>
              <a:rPr lang="en-US" sz="2000" b="1" dirty="0">
                <a:solidFill>
                  <a:srgbClr val="1B4332"/>
                </a:solidFill>
                <a:latin typeface="Georgia" pitchFamily="34" charset="0"/>
                <a:ea typeface="Georgia" pitchFamily="34" charset="-122"/>
                <a:cs typeface="Georgia" pitchFamily="34" charset="-120"/>
              </a:rPr>
              <a:t>Target Users</a:t>
            </a:r>
            <a:endParaRPr lang="en-US" sz="2000" dirty="0"/>
          </a:p>
        </p:txBody>
      </p:sp>
      <p:pic>
        <p:nvPicPr>
          <p:cNvPr id="139" name="Image 30" descr="preencoded.png"/>
          <p:cNvPicPr>
            <a:picLocks noChangeAspect="1"/>
          </p:cNvPicPr>
          <p:nvPr/>
        </p:nvPicPr>
        <p:blipFill>
          <a:blip r:embed="rId31"/>
          <a:stretch>
            <a:fillRect/>
          </a:stretch>
        </p:blipFill>
        <p:spPr>
          <a:xfrm>
            <a:off x="9875520" y="21625560"/>
            <a:ext cx="292608" cy="292608"/>
          </a:xfrm>
          <a:prstGeom prst="rect">
            <a:avLst/>
          </a:prstGeom>
        </p:spPr>
      </p:pic>
      <p:sp>
        <p:nvSpPr>
          <p:cNvPr id="140" name="Text 107"/>
          <p:cNvSpPr/>
          <p:nvPr/>
        </p:nvSpPr>
        <p:spPr>
          <a:xfrm>
            <a:off x="10287000" y="21561552"/>
            <a:ext cx="3200400" cy="274320"/>
          </a:xfrm>
          <a:prstGeom prst="rect">
            <a:avLst/>
          </a:prstGeom>
          <a:noFill/>
          <a:ln/>
        </p:spPr>
        <p:txBody>
          <a:bodyPr wrap="square" lIns="0" tIns="0" rIns="0" bIns="0" rtlCol="0" anchor="ctr"/>
          <a:lstStyle/>
          <a:p>
            <a:pPr marL="0" indent="0" algn="l">
              <a:buNone/>
            </a:pPr>
            <a:r>
              <a:rPr lang="en-US" sz="1200" b="1" dirty="0">
                <a:solidFill>
                  <a:srgbClr val="1B4332"/>
                </a:solidFill>
                <a:latin typeface="Arial" pitchFamily="34" charset="0"/>
                <a:ea typeface="Arial" pitchFamily="34" charset="-122"/>
                <a:cs typeface="Arial" pitchFamily="34" charset="-120"/>
              </a:rPr>
              <a:t>Farmers &amp; Landowners</a:t>
            </a:r>
            <a:endParaRPr lang="en-US" sz="1200" dirty="0"/>
          </a:p>
        </p:txBody>
      </p:sp>
      <p:sp>
        <p:nvSpPr>
          <p:cNvPr id="141" name="Text 108"/>
          <p:cNvSpPr/>
          <p:nvPr/>
        </p:nvSpPr>
        <p:spPr>
          <a:xfrm>
            <a:off x="10287000" y="21835872"/>
            <a:ext cx="3200400" cy="274320"/>
          </a:xfrm>
          <a:prstGeom prst="rect">
            <a:avLst/>
          </a:prstGeom>
          <a:noFill/>
          <a:ln/>
        </p:spPr>
        <p:txBody>
          <a:bodyPr wrap="square" lIns="0" tIns="0" rIns="0" bIns="0" rtlCol="0" anchor="ctr"/>
          <a:lstStyle/>
          <a:p>
            <a:pPr marL="0" indent="0" algn="l">
              <a:buNone/>
            </a:pPr>
            <a:r>
              <a:rPr lang="en-US" sz="1200" dirty="0">
                <a:solidFill>
                  <a:srgbClr val="2C3E50"/>
                </a:solidFill>
                <a:latin typeface="Arial" pitchFamily="34" charset="0"/>
                <a:ea typeface="Arial" pitchFamily="34" charset="-122"/>
                <a:cs typeface="Arial" pitchFamily="34" charset="-120"/>
              </a:rPr>
              <a:t>Know if land is best for farming or selling</a:t>
            </a:r>
            <a:endParaRPr lang="en-US" sz="1200" dirty="0"/>
          </a:p>
        </p:txBody>
      </p:sp>
      <p:pic>
        <p:nvPicPr>
          <p:cNvPr id="142" name="Image 31" descr="preencoded.png"/>
          <p:cNvPicPr>
            <a:picLocks noChangeAspect="1"/>
          </p:cNvPicPr>
          <p:nvPr/>
        </p:nvPicPr>
        <p:blipFill>
          <a:blip r:embed="rId32"/>
          <a:stretch>
            <a:fillRect/>
          </a:stretch>
        </p:blipFill>
        <p:spPr>
          <a:xfrm>
            <a:off x="13716000" y="21625560"/>
            <a:ext cx="292608" cy="292608"/>
          </a:xfrm>
          <a:prstGeom prst="rect">
            <a:avLst/>
          </a:prstGeom>
        </p:spPr>
      </p:pic>
      <p:sp>
        <p:nvSpPr>
          <p:cNvPr id="143" name="Text 109"/>
          <p:cNvSpPr/>
          <p:nvPr/>
        </p:nvSpPr>
        <p:spPr>
          <a:xfrm>
            <a:off x="14127480" y="21561552"/>
            <a:ext cx="3200400" cy="274320"/>
          </a:xfrm>
          <a:prstGeom prst="rect">
            <a:avLst/>
          </a:prstGeom>
          <a:noFill/>
          <a:ln/>
        </p:spPr>
        <p:txBody>
          <a:bodyPr wrap="square" lIns="0" tIns="0" rIns="0" bIns="0" rtlCol="0" anchor="ctr"/>
          <a:lstStyle/>
          <a:p>
            <a:pPr marL="0" indent="0" algn="l">
              <a:buNone/>
            </a:pPr>
            <a:r>
              <a:rPr lang="en-US" sz="1200" b="1" dirty="0">
                <a:solidFill>
                  <a:srgbClr val="1B4332"/>
                </a:solidFill>
                <a:latin typeface="Arial" pitchFamily="34" charset="0"/>
                <a:ea typeface="Arial" pitchFamily="34" charset="-122"/>
                <a:cs typeface="Arial" pitchFamily="34" charset="-120"/>
              </a:rPr>
              <a:t>Government &amp; Municipalities</a:t>
            </a:r>
            <a:endParaRPr lang="en-US" sz="1200" dirty="0"/>
          </a:p>
        </p:txBody>
      </p:sp>
      <p:sp>
        <p:nvSpPr>
          <p:cNvPr id="144" name="Text 110"/>
          <p:cNvSpPr/>
          <p:nvPr/>
        </p:nvSpPr>
        <p:spPr>
          <a:xfrm>
            <a:off x="14127480" y="21835872"/>
            <a:ext cx="3200400" cy="274320"/>
          </a:xfrm>
          <a:prstGeom prst="rect">
            <a:avLst/>
          </a:prstGeom>
          <a:noFill/>
          <a:ln/>
        </p:spPr>
        <p:txBody>
          <a:bodyPr wrap="square" lIns="0" tIns="0" rIns="0" bIns="0" rtlCol="0" anchor="ctr"/>
          <a:lstStyle/>
          <a:p>
            <a:pPr marL="0" indent="0" algn="l">
              <a:buNone/>
            </a:pPr>
            <a:r>
              <a:rPr lang="en-US" sz="1200" dirty="0">
                <a:solidFill>
                  <a:srgbClr val="2C3E50"/>
                </a:solidFill>
                <a:latin typeface="Arial" pitchFamily="34" charset="0"/>
                <a:ea typeface="Arial" pitchFamily="34" charset="-122"/>
                <a:cs typeface="Arial" pitchFamily="34" charset="-120"/>
              </a:rPr>
              <a:t>Monitor land use, prevent illegal construction</a:t>
            </a:r>
            <a:endParaRPr lang="en-US" sz="1200" dirty="0"/>
          </a:p>
        </p:txBody>
      </p:sp>
      <p:pic>
        <p:nvPicPr>
          <p:cNvPr id="145" name="Image 32" descr="preencoded.png"/>
          <p:cNvPicPr>
            <a:picLocks noChangeAspect="1"/>
          </p:cNvPicPr>
          <p:nvPr/>
        </p:nvPicPr>
        <p:blipFill>
          <a:blip r:embed="rId33"/>
          <a:stretch>
            <a:fillRect/>
          </a:stretch>
        </p:blipFill>
        <p:spPr>
          <a:xfrm>
            <a:off x="9875520" y="22494240"/>
            <a:ext cx="292608" cy="292608"/>
          </a:xfrm>
          <a:prstGeom prst="rect">
            <a:avLst/>
          </a:prstGeom>
        </p:spPr>
      </p:pic>
      <p:sp>
        <p:nvSpPr>
          <p:cNvPr id="146" name="Text 111"/>
          <p:cNvSpPr/>
          <p:nvPr/>
        </p:nvSpPr>
        <p:spPr>
          <a:xfrm>
            <a:off x="10287000" y="22430232"/>
            <a:ext cx="3200400" cy="274320"/>
          </a:xfrm>
          <a:prstGeom prst="rect">
            <a:avLst/>
          </a:prstGeom>
          <a:noFill/>
          <a:ln/>
        </p:spPr>
        <p:txBody>
          <a:bodyPr wrap="square" lIns="0" tIns="0" rIns="0" bIns="0" rtlCol="0" anchor="ctr"/>
          <a:lstStyle/>
          <a:p>
            <a:pPr marL="0" indent="0" algn="l">
              <a:buNone/>
            </a:pPr>
            <a:r>
              <a:rPr lang="en-US" sz="1200" b="1" dirty="0">
                <a:solidFill>
                  <a:srgbClr val="1B4332"/>
                </a:solidFill>
                <a:latin typeface="Arial" pitchFamily="34" charset="0"/>
                <a:ea typeface="Arial" pitchFamily="34" charset="-122"/>
                <a:cs typeface="Arial" pitchFamily="34" charset="-120"/>
              </a:rPr>
              <a:t>Real Estate Developers</a:t>
            </a:r>
            <a:endParaRPr lang="en-US" sz="1200" dirty="0"/>
          </a:p>
        </p:txBody>
      </p:sp>
      <p:sp>
        <p:nvSpPr>
          <p:cNvPr id="147" name="Text 112"/>
          <p:cNvSpPr/>
          <p:nvPr/>
        </p:nvSpPr>
        <p:spPr>
          <a:xfrm>
            <a:off x="10287000" y="22704552"/>
            <a:ext cx="3200400" cy="274320"/>
          </a:xfrm>
          <a:prstGeom prst="rect">
            <a:avLst/>
          </a:prstGeom>
          <a:noFill/>
          <a:ln/>
        </p:spPr>
        <p:txBody>
          <a:bodyPr wrap="square" lIns="0" tIns="0" rIns="0" bIns="0" rtlCol="0" anchor="ctr"/>
          <a:lstStyle/>
          <a:p>
            <a:pPr marL="0" indent="0" algn="l">
              <a:buNone/>
            </a:pPr>
            <a:r>
              <a:rPr lang="en-US" sz="1200" dirty="0">
                <a:solidFill>
                  <a:srgbClr val="2C3E50"/>
                </a:solidFill>
                <a:latin typeface="Arial" pitchFamily="34" charset="0"/>
                <a:ea typeface="Arial" pitchFamily="34" charset="-122"/>
                <a:cs typeface="Arial" pitchFamily="34" charset="-120"/>
              </a:rPr>
              <a:t>Sustainable, compliant development</a:t>
            </a:r>
            <a:endParaRPr lang="en-US" sz="1200" dirty="0"/>
          </a:p>
        </p:txBody>
      </p:sp>
      <p:pic>
        <p:nvPicPr>
          <p:cNvPr id="148" name="Image 33" descr="preencoded.png"/>
          <p:cNvPicPr>
            <a:picLocks noChangeAspect="1"/>
          </p:cNvPicPr>
          <p:nvPr/>
        </p:nvPicPr>
        <p:blipFill>
          <a:blip r:embed="rId34"/>
          <a:stretch>
            <a:fillRect/>
          </a:stretch>
        </p:blipFill>
        <p:spPr>
          <a:xfrm>
            <a:off x="13716000" y="22494240"/>
            <a:ext cx="292608" cy="292608"/>
          </a:xfrm>
          <a:prstGeom prst="rect">
            <a:avLst/>
          </a:prstGeom>
        </p:spPr>
      </p:pic>
      <p:sp>
        <p:nvSpPr>
          <p:cNvPr id="149" name="Text 113"/>
          <p:cNvSpPr/>
          <p:nvPr/>
        </p:nvSpPr>
        <p:spPr>
          <a:xfrm>
            <a:off x="14127480" y="22430232"/>
            <a:ext cx="3200400" cy="274320"/>
          </a:xfrm>
          <a:prstGeom prst="rect">
            <a:avLst/>
          </a:prstGeom>
          <a:noFill/>
          <a:ln/>
        </p:spPr>
        <p:txBody>
          <a:bodyPr wrap="square" lIns="0" tIns="0" rIns="0" bIns="0" rtlCol="0" anchor="ctr"/>
          <a:lstStyle/>
          <a:p>
            <a:pPr marL="0" indent="0" algn="l">
              <a:buNone/>
            </a:pPr>
            <a:r>
              <a:rPr lang="en-US" sz="1200" b="1" dirty="0">
                <a:solidFill>
                  <a:srgbClr val="1B4332"/>
                </a:solidFill>
                <a:latin typeface="Arial" pitchFamily="34" charset="0"/>
                <a:ea typeface="Arial" pitchFamily="34" charset="-122"/>
                <a:cs typeface="Arial" pitchFamily="34" charset="-120"/>
              </a:rPr>
              <a:t>Environmental Organizations</a:t>
            </a:r>
            <a:endParaRPr lang="en-US" sz="1200" dirty="0"/>
          </a:p>
        </p:txBody>
      </p:sp>
      <p:sp>
        <p:nvSpPr>
          <p:cNvPr id="150" name="Text 114"/>
          <p:cNvSpPr/>
          <p:nvPr/>
        </p:nvSpPr>
        <p:spPr>
          <a:xfrm>
            <a:off x="14127480" y="22704552"/>
            <a:ext cx="3200400" cy="274320"/>
          </a:xfrm>
          <a:prstGeom prst="rect">
            <a:avLst/>
          </a:prstGeom>
          <a:noFill/>
          <a:ln/>
        </p:spPr>
        <p:txBody>
          <a:bodyPr wrap="square" lIns="0" tIns="0" rIns="0" bIns="0" rtlCol="0" anchor="ctr"/>
          <a:lstStyle/>
          <a:p>
            <a:pPr marL="0" indent="0" algn="l">
              <a:buNone/>
            </a:pPr>
            <a:r>
              <a:rPr lang="en-US" sz="1200" dirty="0">
                <a:solidFill>
                  <a:srgbClr val="2C3E50"/>
                </a:solidFill>
                <a:latin typeface="Arial" pitchFamily="34" charset="0"/>
                <a:ea typeface="Arial" pitchFamily="34" charset="-122"/>
                <a:cs typeface="Arial" pitchFamily="34" charset="-120"/>
              </a:rPr>
              <a:t>Track &amp; protect agricultural land</a:t>
            </a:r>
            <a:endParaRPr lang="en-US" sz="1200" dirty="0"/>
          </a:p>
        </p:txBody>
      </p:sp>
      <p:sp>
        <p:nvSpPr>
          <p:cNvPr id="151" name="Shape 115"/>
          <p:cNvSpPr/>
          <p:nvPr/>
        </p:nvSpPr>
        <p:spPr>
          <a:xfrm>
            <a:off x="0" y="23591520"/>
            <a:ext cx="18288000" cy="2011680"/>
          </a:xfrm>
          <a:prstGeom prst="rect">
            <a:avLst/>
          </a:prstGeom>
          <a:solidFill>
            <a:srgbClr val="1B4332"/>
          </a:solidFill>
          <a:ln/>
        </p:spPr>
        <p:txBody>
          <a:bodyPr/>
          <a:lstStyle/>
          <a:p>
            <a:endParaRPr lang="en-GB"/>
          </a:p>
        </p:txBody>
      </p:sp>
      <p:sp>
        <p:nvSpPr>
          <p:cNvPr id="152" name="Text 116"/>
          <p:cNvSpPr/>
          <p:nvPr/>
        </p:nvSpPr>
        <p:spPr>
          <a:xfrm>
            <a:off x="731520" y="23682960"/>
            <a:ext cx="1682496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Impact &amp; SDG Alignment</a:t>
            </a:r>
            <a:endParaRPr lang="en-US" sz="2000" dirty="0"/>
          </a:p>
        </p:txBody>
      </p:sp>
      <p:pic>
        <p:nvPicPr>
          <p:cNvPr id="153" name="Image 34" descr="preencoded.png"/>
          <p:cNvPicPr>
            <a:picLocks noChangeAspect="1"/>
          </p:cNvPicPr>
          <p:nvPr/>
        </p:nvPicPr>
        <p:blipFill>
          <a:blip r:embed="rId35"/>
          <a:stretch>
            <a:fillRect/>
          </a:stretch>
        </p:blipFill>
        <p:spPr>
          <a:xfrm>
            <a:off x="685800" y="24185880"/>
            <a:ext cx="411480" cy="411480"/>
          </a:xfrm>
          <a:prstGeom prst="rect">
            <a:avLst/>
          </a:prstGeom>
        </p:spPr>
      </p:pic>
      <p:sp>
        <p:nvSpPr>
          <p:cNvPr id="154" name="Text 117"/>
          <p:cNvSpPr/>
          <p:nvPr/>
        </p:nvSpPr>
        <p:spPr>
          <a:xfrm>
            <a:off x="1234440" y="24140160"/>
            <a:ext cx="2560320" cy="274320"/>
          </a:xfrm>
          <a:prstGeom prst="rect">
            <a:avLst/>
          </a:prstGeom>
          <a:noFill/>
          <a:ln/>
        </p:spPr>
        <p:txBody>
          <a:bodyPr wrap="square" lIns="0" tIns="0" rIns="0" bIns="0" rtlCol="0" anchor="ctr"/>
          <a:lstStyle/>
          <a:p>
            <a:pPr marL="0" indent="0" algn="l">
              <a:buNone/>
            </a:pPr>
            <a:r>
              <a:rPr lang="en-US" sz="1300" b="1" dirty="0">
                <a:solidFill>
                  <a:srgbClr val="FFFFFF"/>
                </a:solidFill>
                <a:latin typeface="Arial" pitchFamily="34" charset="0"/>
                <a:ea typeface="Arial" pitchFamily="34" charset="-122"/>
                <a:cs typeface="Arial" pitchFamily="34" charset="-120"/>
              </a:rPr>
              <a:t>Environmental</a:t>
            </a:r>
            <a:endParaRPr lang="en-US" sz="1300" dirty="0"/>
          </a:p>
        </p:txBody>
      </p:sp>
      <p:sp>
        <p:nvSpPr>
          <p:cNvPr id="155" name="Text 118"/>
          <p:cNvSpPr/>
          <p:nvPr/>
        </p:nvSpPr>
        <p:spPr>
          <a:xfrm>
            <a:off x="1234440" y="24414480"/>
            <a:ext cx="2560320" cy="228600"/>
          </a:xfrm>
          <a:prstGeom prst="rect">
            <a:avLst/>
          </a:prstGeom>
          <a:noFill/>
          <a:ln/>
        </p:spPr>
        <p:txBody>
          <a:bodyPr wrap="square" lIns="0" tIns="0" rIns="0" bIns="0" rtlCol="0" anchor="ctr"/>
          <a:lstStyle/>
          <a:p>
            <a:pPr marL="0" indent="0" algn="l">
              <a:buNone/>
            </a:pPr>
            <a:r>
              <a:rPr lang="en-US" sz="1200" dirty="0">
                <a:solidFill>
                  <a:srgbClr val="95D5B2"/>
                </a:solidFill>
                <a:latin typeface="Arial" pitchFamily="34" charset="0"/>
                <a:ea typeface="Arial" pitchFamily="34" charset="-122"/>
                <a:cs typeface="Arial" pitchFamily="34" charset="-120"/>
              </a:rPr>
              <a:t>Preserves fertile land</a:t>
            </a:r>
            <a:endParaRPr lang="en-US" sz="1200" dirty="0"/>
          </a:p>
        </p:txBody>
      </p:sp>
      <p:sp>
        <p:nvSpPr>
          <p:cNvPr id="156" name="Shape 119"/>
          <p:cNvSpPr/>
          <p:nvPr/>
        </p:nvSpPr>
        <p:spPr>
          <a:xfrm>
            <a:off x="685800" y="24734520"/>
            <a:ext cx="457200" cy="457200"/>
          </a:xfrm>
          <a:prstGeom prst="ellipse">
            <a:avLst/>
          </a:prstGeom>
          <a:solidFill>
            <a:srgbClr val="DDA15E"/>
          </a:solidFill>
          <a:ln/>
        </p:spPr>
        <p:txBody>
          <a:bodyPr/>
          <a:lstStyle/>
          <a:p>
            <a:endParaRPr lang="en-GB"/>
          </a:p>
        </p:txBody>
      </p:sp>
      <p:sp>
        <p:nvSpPr>
          <p:cNvPr id="157" name="Text 120"/>
          <p:cNvSpPr/>
          <p:nvPr/>
        </p:nvSpPr>
        <p:spPr>
          <a:xfrm>
            <a:off x="685800" y="24761952"/>
            <a:ext cx="457200" cy="402336"/>
          </a:xfrm>
          <a:prstGeom prst="rect">
            <a:avLst/>
          </a:prstGeom>
          <a:noFill/>
          <a:ln/>
        </p:spPr>
        <p:txBody>
          <a:bodyPr wrap="square" lIns="0" tIns="0" rIns="0" bIns="0" rtlCol="0" anchor="ctr"/>
          <a:lstStyle/>
          <a:p>
            <a:pPr marL="0" indent="0" algn="ctr">
              <a:buNone/>
            </a:pPr>
            <a:r>
              <a:rPr lang="en-US" sz="1300" b="1" dirty="0">
                <a:solidFill>
                  <a:srgbClr val="1B4332"/>
                </a:solidFill>
                <a:latin typeface="Arial Black" pitchFamily="34" charset="0"/>
                <a:ea typeface="Arial Black" pitchFamily="34" charset="-122"/>
                <a:cs typeface="Arial Black" pitchFamily="34" charset="-120"/>
              </a:rPr>
              <a:t>15</a:t>
            </a:r>
            <a:endParaRPr lang="en-US" sz="1300" dirty="0"/>
          </a:p>
        </p:txBody>
      </p:sp>
      <p:sp>
        <p:nvSpPr>
          <p:cNvPr id="158" name="Text 121"/>
          <p:cNvSpPr/>
          <p:nvPr/>
        </p:nvSpPr>
        <p:spPr>
          <a:xfrm>
            <a:off x="1234440" y="24780240"/>
            <a:ext cx="2560320" cy="274320"/>
          </a:xfrm>
          <a:prstGeom prst="rect">
            <a:avLst/>
          </a:prstGeom>
          <a:noFill/>
          <a:ln/>
        </p:spPr>
        <p:txBody>
          <a:bodyPr wrap="square" lIns="0" tIns="0" rIns="0" bIns="0" rtlCol="0" anchor="ctr"/>
          <a:lstStyle/>
          <a:p>
            <a:pPr marL="0" indent="0" algn="l">
              <a:buNone/>
            </a:pPr>
            <a:r>
              <a:rPr lang="en-US" sz="1300" dirty="0">
                <a:solidFill>
                  <a:srgbClr val="D8F3DC"/>
                </a:solidFill>
                <a:latin typeface="Arial" pitchFamily="34" charset="0"/>
                <a:ea typeface="Arial" pitchFamily="34" charset="-122"/>
                <a:cs typeface="Arial" pitchFamily="34" charset="-120"/>
              </a:rPr>
              <a:t>SDG 15: Life on Land</a:t>
            </a:r>
            <a:endParaRPr lang="en-US" sz="1300" dirty="0"/>
          </a:p>
        </p:txBody>
      </p:sp>
      <p:pic>
        <p:nvPicPr>
          <p:cNvPr id="159" name="Image 35" descr="preencoded.png"/>
          <p:cNvPicPr>
            <a:picLocks noChangeAspect="1"/>
          </p:cNvPicPr>
          <p:nvPr/>
        </p:nvPicPr>
        <p:blipFill>
          <a:blip r:embed="rId36"/>
          <a:stretch>
            <a:fillRect/>
          </a:stretch>
        </p:blipFill>
        <p:spPr>
          <a:xfrm>
            <a:off x="4251960" y="24185880"/>
            <a:ext cx="411480" cy="411480"/>
          </a:xfrm>
          <a:prstGeom prst="rect">
            <a:avLst/>
          </a:prstGeom>
        </p:spPr>
      </p:pic>
      <p:sp>
        <p:nvSpPr>
          <p:cNvPr id="160" name="Text 122"/>
          <p:cNvSpPr/>
          <p:nvPr/>
        </p:nvSpPr>
        <p:spPr>
          <a:xfrm>
            <a:off x="4800600" y="24140160"/>
            <a:ext cx="2560320" cy="274320"/>
          </a:xfrm>
          <a:prstGeom prst="rect">
            <a:avLst/>
          </a:prstGeom>
          <a:noFill/>
          <a:ln/>
        </p:spPr>
        <p:txBody>
          <a:bodyPr wrap="square" lIns="0" tIns="0" rIns="0" bIns="0" rtlCol="0" anchor="ctr"/>
          <a:lstStyle/>
          <a:p>
            <a:pPr marL="0" indent="0" algn="l">
              <a:buNone/>
            </a:pPr>
            <a:r>
              <a:rPr lang="en-US" sz="1300" b="1" dirty="0">
                <a:solidFill>
                  <a:srgbClr val="FFFFFF"/>
                </a:solidFill>
                <a:latin typeface="Arial" pitchFamily="34" charset="0"/>
                <a:ea typeface="Arial" pitchFamily="34" charset="-122"/>
                <a:cs typeface="Arial" pitchFamily="34" charset="-120"/>
              </a:rPr>
              <a:t>Food Security</a:t>
            </a:r>
            <a:endParaRPr lang="en-US" sz="1300" dirty="0"/>
          </a:p>
        </p:txBody>
      </p:sp>
      <p:sp>
        <p:nvSpPr>
          <p:cNvPr id="161" name="Text 123"/>
          <p:cNvSpPr/>
          <p:nvPr/>
        </p:nvSpPr>
        <p:spPr>
          <a:xfrm>
            <a:off x="4800600" y="24414480"/>
            <a:ext cx="2560320" cy="228600"/>
          </a:xfrm>
          <a:prstGeom prst="rect">
            <a:avLst/>
          </a:prstGeom>
          <a:noFill/>
          <a:ln/>
        </p:spPr>
        <p:txBody>
          <a:bodyPr wrap="square" lIns="0" tIns="0" rIns="0" bIns="0" rtlCol="0" anchor="ctr"/>
          <a:lstStyle/>
          <a:p>
            <a:pPr marL="0" indent="0" algn="l">
              <a:buNone/>
            </a:pPr>
            <a:r>
              <a:rPr lang="en-US" sz="1200" dirty="0">
                <a:solidFill>
                  <a:srgbClr val="95D5B2"/>
                </a:solidFill>
                <a:latin typeface="Arial" pitchFamily="34" charset="0"/>
                <a:ea typeface="Arial" pitchFamily="34" charset="-122"/>
                <a:cs typeface="Arial" pitchFamily="34" charset="-120"/>
              </a:rPr>
              <a:t>Protects agriculture</a:t>
            </a:r>
            <a:endParaRPr lang="en-US" sz="1200" dirty="0"/>
          </a:p>
        </p:txBody>
      </p:sp>
      <p:sp>
        <p:nvSpPr>
          <p:cNvPr id="162" name="Shape 124"/>
          <p:cNvSpPr/>
          <p:nvPr/>
        </p:nvSpPr>
        <p:spPr>
          <a:xfrm>
            <a:off x="4251960" y="24734520"/>
            <a:ext cx="457200" cy="457200"/>
          </a:xfrm>
          <a:prstGeom prst="ellipse">
            <a:avLst/>
          </a:prstGeom>
          <a:solidFill>
            <a:srgbClr val="DDA15E"/>
          </a:solidFill>
          <a:ln/>
        </p:spPr>
        <p:txBody>
          <a:bodyPr/>
          <a:lstStyle/>
          <a:p>
            <a:endParaRPr lang="en-GB"/>
          </a:p>
        </p:txBody>
      </p:sp>
      <p:sp>
        <p:nvSpPr>
          <p:cNvPr id="163" name="Text 125"/>
          <p:cNvSpPr/>
          <p:nvPr/>
        </p:nvSpPr>
        <p:spPr>
          <a:xfrm>
            <a:off x="4251960" y="24761952"/>
            <a:ext cx="457200" cy="402336"/>
          </a:xfrm>
          <a:prstGeom prst="rect">
            <a:avLst/>
          </a:prstGeom>
          <a:noFill/>
          <a:ln/>
        </p:spPr>
        <p:txBody>
          <a:bodyPr wrap="square" lIns="0" tIns="0" rIns="0" bIns="0" rtlCol="0" anchor="ctr"/>
          <a:lstStyle/>
          <a:p>
            <a:pPr marL="0" indent="0" algn="ctr">
              <a:buNone/>
            </a:pPr>
            <a:r>
              <a:rPr lang="en-US" sz="1300" b="1" dirty="0">
                <a:solidFill>
                  <a:srgbClr val="1B4332"/>
                </a:solidFill>
                <a:latin typeface="Arial Black" pitchFamily="34" charset="0"/>
                <a:ea typeface="Arial Black" pitchFamily="34" charset="-122"/>
                <a:cs typeface="Arial Black" pitchFamily="34" charset="-120"/>
              </a:rPr>
              <a:t>2</a:t>
            </a:r>
            <a:endParaRPr lang="en-US" sz="1300" dirty="0"/>
          </a:p>
        </p:txBody>
      </p:sp>
      <p:sp>
        <p:nvSpPr>
          <p:cNvPr id="164" name="Text 126"/>
          <p:cNvSpPr/>
          <p:nvPr/>
        </p:nvSpPr>
        <p:spPr>
          <a:xfrm>
            <a:off x="4800600" y="24780240"/>
            <a:ext cx="2560320" cy="274320"/>
          </a:xfrm>
          <a:prstGeom prst="rect">
            <a:avLst/>
          </a:prstGeom>
          <a:noFill/>
          <a:ln/>
        </p:spPr>
        <p:txBody>
          <a:bodyPr wrap="square" lIns="0" tIns="0" rIns="0" bIns="0" rtlCol="0" anchor="ctr"/>
          <a:lstStyle/>
          <a:p>
            <a:pPr marL="0" indent="0" algn="l">
              <a:buNone/>
            </a:pPr>
            <a:r>
              <a:rPr lang="en-US" sz="1300" dirty="0">
                <a:solidFill>
                  <a:srgbClr val="D8F3DC"/>
                </a:solidFill>
                <a:latin typeface="Arial" pitchFamily="34" charset="0"/>
                <a:ea typeface="Arial" pitchFamily="34" charset="-122"/>
                <a:cs typeface="Arial" pitchFamily="34" charset="-120"/>
              </a:rPr>
              <a:t>SDG 2: Zero Hunger</a:t>
            </a:r>
            <a:endParaRPr lang="en-US" sz="1300" dirty="0"/>
          </a:p>
        </p:txBody>
      </p:sp>
      <p:pic>
        <p:nvPicPr>
          <p:cNvPr id="165" name="Image 36" descr="preencoded.png"/>
          <p:cNvPicPr>
            <a:picLocks noChangeAspect="1"/>
          </p:cNvPicPr>
          <p:nvPr/>
        </p:nvPicPr>
        <p:blipFill>
          <a:blip r:embed="rId37"/>
          <a:stretch>
            <a:fillRect/>
          </a:stretch>
        </p:blipFill>
        <p:spPr>
          <a:xfrm>
            <a:off x="7818120" y="24185880"/>
            <a:ext cx="411480" cy="411480"/>
          </a:xfrm>
          <a:prstGeom prst="rect">
            <a:avLst/>
          </a:prstGeom>
        </p:spPr>
      </p:pic>
      <p:sp>
        <p:nvSpPr>
          <p:cNvPr id="166" name="Text 127"/>
          <p:cNvSpPr/>
          <p:nvPr/>
        </p:nvSpPr>
        <p:spPr>
          <a:xfrm>
            <a:off x="8366760" y="24140160"/>
            <a:ext cx="2560320" cy="274320"/>
          </a:xfrm>
          <a:prstGeom prst="rect">
            <a:avLst/>
          </a:prstGeom>
          <a:noFill/>
          <a:ln/>
        </p:spPr>
        <p:txBody>
          <a:bodyPr wrap="square" lIns="0" tIns="0" rIns="0" bIns="0" rtlCol="0" anchor="ctr"/>
          <a:lstStyle/>
          <a:p>
            <a:pPr marL="0" indent="0" algn="l">
              <a:buNone/>
            </a:pPr>
            <a:r>
              <a:rPr lang="en-US" sz="1300" b="1" dirty="0">
                <a:solidFill>
                  <a:srgbClr val="FFFFFF"/>
                </a:solidFill>
                <a:latin typeface="Arial" pitchFamily="34" charset="0"/>
                <a:ea typeface="Arial" pitchFamily="34" charset="-122"/>
                <a:cs typeface="Arial" pitchFamily="34" charset="-120"/>
              </a:rPr>
              <a:t>Sustainable Cities</a:t>
            </a:r>
            <a:endParaRPr lang="en-US" sz="1300" dirty="0"/>
          </a:p>
        </p:txBody>
      </p:sp>
      <p:sp>
        <p:nvSpPr>
          <p:cNvPr id="167" name="Text 128"/>
          <p:cNvSpPr/>
          <p:nvPr/>
        </p:nvSpPr>
        <p:spPr>
          <a:xfrm>
            <a:off x="8366760" y="24414480"/>
            <a:ext cx="2560320" cy="228600"/>
          </a:xfrm>
          <a:prstGeom prst="rect">
            <a:avLst/>
          </a:prstGeom>
          <a:noFill/>
          <a:ln/>
        </p:spPr>
        <p:txBody>
          <a:bodyPr wrap="square" lIns="0" tIns="0" rIns="0" bIns="0" rtlCol="0" anchor="ctr"/>
          <a:lstStyle/>
          <a:p>
            <a:pPr marL="0" indent="0" algn="l">
              <a:buNone/>
            </a:pPr>
            <a:r>
              <a:rPr lang="en-US" sz="1200" dirty="0">
                <a:solidFill>
                  <a:srgbClr val="95D5B2"/>
                </a:solidFill>
                <a:latin typeface="Arial" pitchFamily="34" charset="0"/>
                <a:ea typeface="Arial" pitchFamily="34" charset="-122"/>
                <a:cs typeface="Arial" pitchFamily="34" charset="-120"/>
              </a:rPr>
              <a:t>Balanced urban growth</a:t>
            </a:r>
            <a:endParaRPr lang="en-US" sz="1200" dirty="0"/>
          </a:p>
        </p:txBody>
      </p:sp>
      <p:sp>
        <p:nvSpPr>
          <p:cNvPr id="168" name="Shape 129"/>
          <p:cNvSpPr/>
          <p:nvPr/>
        </p:nvSpPr>
        <p:spPr>
          <a:xfrm>
            <a:off x="7818120" y="24734520"/>
            <a:ext cx="457200" cy="457200"/>
          </a:xfrm>
          <a:prstGeom prst="ellipse">
            <a:avLst/>
          </a:prstGeom>
          <a:solidFill>
            <a:srgbClr val="DDA15E"/>
          </a:solidFill>
          <a:ln/>
        </p:spPr>
        <p:txBody>
          <a:bodyPr/>
          <a:lstStyle/>
          <a:p>
            <a:endParaRPr lang="en-GB"/>
          </a:p>
        </p:txBody>
      </p:sp>
      <p:sp>
        <p:nvSpPr>
          <p:cNvPr id="169" name="Text 130"/>
          <p:cNvSpPr/>
          <p:nvPr/>
        </p:nvSpPr>
        <p:spPr>
          <a:xfrm>
            <a:off x="7818120" y="24761952"/>
            <a:ext cx="457200" cy="402336"/>
          </a:xfrm>
          <a:prstGeom prst="rect">
            <a:avLst/>
          </a:prstGeom>
          <a:noFill/>
          <a:ln/>
        </p:spPr>
        <p:txBody>
          <a:bodyPr wrap="square" lIns="0" tIns="0" rIns="0" bIns="0" rtlCol="0" anchor="ctr"/>
          <a:lstStyle/>
          <a:p>
            <a:pPr marL="0" indent="0" algn="ctr">
              <a:buNone/>
            </a:pPr>
            <a:r>
              <a:rPr lang="en-US" sz="1300" b="1" dirty="0">
                <a:solidFill>
                  <a:srgbClr val="1B4332"/>
                </a:solidFill>
                <a:latin typeface="Arial Black" pitchFamily="34" charset="0"/>
                <a:ea typeface="Arial Black" pitchFamily="34" charset="-122"/>
                <a:cs typeface="Arial Black" pitchFamily="34" charset="-120"/>
              </a:rPr>
              <a:t>11</a:t>
            </a:r>
            <a:endParaRPr lang="en-US" sz="1300" dirty="0"/>
          </a:p>
        </p:txBody>
      </p:sp>
      <p:sp>
        <p:nvSpPr>
          <p:cNvPr id="170" name="Text 131"/>
          <p:cNvSpPr/>
          <p:nvPr/>
        </p:nvSpPr>
        <p:spPr>
          <a:xfrm>
            <a:off x="8366760" y="24780240"/>
            <a:ext cx="2560320" cy="274320"/>
          </a:xfrm>
          <a:prstGeom prst="rect">
            <a:avLst/>
          </a:prstGeom>
          <a:noFill/>
          <a:ln/>
        </p:spPr>
        <p:txBody>
          <a:bodyPr wrap="square" lIns="0" tIns="0" rIns="0" bIns="0" rtlCol="0" anchor="ctr"/>
          <a:lstStyle/>
          <a:p>
            <a:pPr marL="0" indent="0" algn="l">
              <a:buNone/>
            </a:pPr>
            <a:r>
              <a:rPr lang="en-US" sz="1300" dirty="0">
                <a:solidFill>
                  <a:srgbClr val="D8F3DC"/>
                </a:solidFill>
                <a:latin typeface="Arial" pitchFamily="34" charset="0"/>
                <a:ea typeface="Arial" pitchFamily="34" charset="-122"/>
                <a:cs typeface="Arial" pitchFamily="34" charset="-120"/>
              </a:rPr>
              <a:t>SDG 11: Sustainable Cities</a:t>
            </a:r>
            <a:endParaRPr lang="en-US" sz="1300" dirty="0"/>
          </a:p>
        </p:txBody>
      </p:sp>
      <p:pic>
        <p:nvPicPr>
          <p:cNvPr id="171" name="Image 37" descr="preencoded.png"/>
          <p:cNvPicPr>
            <a:picLocks noChangeAspect="1"/>
          </p:cNvPicPr>
          <p:nvPr/>
        </p:nvPicPr>
        <p:blipFill>
          <a:blip r:embed="rId38"/>
          <a:stretch>
            <a:fillRect/>
          </a:stretch>
        </p:blipFill>
        <p:spPr>
          <a:xfrm>
            <a:off x="11384280" y="24185880"/>
            <a:ext cx="411480" cy="411480"/>
          </a:xfrm>
          <a:prstGeom prst="rect">
            <a:avLst/>
          </a:prstGeom>
        </p:spPr>
      </p:pic>
      <p:sp>
        <p:nvSpPr>
          <p:cNvPr id="172" name="Text 132"/>
          <p:cNvSpPr/>
          <p:nvPr/>
        </p:nvSpPr>
        <p:spPr>
          <a:xfrm>
            <a:off x="11932920" y="24140160"/>
            <a:ext cx="2560320" cy="274320"/>
          </a:xfrm>
          <a:prstGeom prst="rect">
            <a:avLst/>
          </a:prstGeom>
          <a:noFill/>
          <a:ln/>
        </p:spPr>
        <p:txBody>
          <a:bodyPr wrap="square" lIns="0" tIns="0" rIns="0" bIns="0" rtlCol="0" anchor="ctr"/>
          <a:lstStyle/>
          <a:p>
            <a:pPr marL="0" indent="0" algn="l">
              <a:buNone/>
            </a:pPr>
            <a:r>
              <a:rPr lang="en-US" sz="1300" b="1" dirty="0">
                <a:solidFill>
                  <a:srgbClr val="FFFFFF"/>
                </a:solidFill>
                <a:latin typeface="Arial" pitchFamily="34" charset="0"/>
                <a:ea typeface="Arial" pitchFamily="34" charset="-122"/>
                <a:cs typeface="Arial" pitchFamily="34" charset="-120"/>
              </a:rPr>
              <a:t>Economic</a:t>
            </a:r>
            <a:endParaRPr lang="en-US" sz="1300" dirty="0"/>
          </a:p>
        </p:txBody>
      </p:sp>
      <p:sp>
        <p:nvSpPr>
          <p:cNvPr id="173" name="Text 133"/>
          <p:cNvSpPr/>
          <p:nvPr/>
        </p:nvSpPr>
        <p:spPr>
          <a:xfrm>
            <a:off x="11932920" y="24414480"/>
            <a:ext cx="2560320" cy="228600"/>
          </a:xfrm>
          <a:prstGeom prst="rect">
            <a:avLst/>
          </a:prstGeom>
          <a:noFill/>
          <a:ln/>
        </p:spPr>
        <p:txBody>
          <a:bodyPr wrap="square" lIns="0" tIns="0" rIns="0" bIns="0" rtlCol="0" anchor="ctr"/>
          <a:lstStyle/>
          <a:p>
            <a:pPr marL="0" indent="0" algn="l">
              <a:buNone/>
            </a:pPr>
            <a:r>
              <a:rPr lang="en-US" sz="1200" dirty="0">
                <a:solidFill>
                  <a:srgbClr val="95D5B2"/>
                </a:solidFill>
                <a:latin typeface="Arial" pitchFamily="34" charset="0"/>
                <a:ea typeface="Arial" pitchFamily="34" charset="-122"/>
                <a:cs typeface="Arial" pitchFamily="34" charset="-120"/>
              </a:rPr>
              <a:t>Better land decisions</a:t>
            </a:r>
            <a:endParaRPr lang="en-US" sz="1200" dirty="0"/>
          </a:p>
        </p:txBody>
      </p:sp>
      <p:sp>
        <p:nvSpPr>
          <p:cNvPr id="174" name="Shape 134"/>
          <p:cNvSpPr/>
          <p:nvPr/>
        </p:nvSpPr>
        <p:spPr>
          <a:xfrm>
            <a:off x="11384280" y="24734520"/>
            <a:ext cx="457200" cy="457200"/>
          </a:xfrm>
          <a:prstGeom prst="ellipse">
            <a:avLst/>
          </a:prstGeom>
          <a:solidFill>
            <a:srgbClr val="DDA15E"/>
          </a:solidFill>
          <a:ln/>
        </p:spPr>
        <p:txBody>
          <a:bodyPr/>
          <a:lstStyle/>
          <a:p>
            <a:endParaRPr lang="en-GB"/>
          </a:p>
        </p:txBody>
      </p:sp>
      <p:sp>
        <p:nvSpPr>
          <p:cNvPr id="175" name="Text 135"/>
          <p:cNvSpPr/>
          <p:nvPr/>
        </p:nvSpPr>
        <p:spPr>
          <a:xfrm>
            <a:off x="11384280" y="24761952"/>
            <a:ext cx="457200" cy="402336"/>
          </a:xfrm>
          <a:prstGeom prst="rect">
            <a:avLst/>
          </a:prstGeom>
          <a:noFill/>
          <a:ln/>
        </p:spPr>
        <p:txBody>
          <a:bodyPr wrap="square" lIns="0" tIns="0" rIns="0" bIns="0" rtlCol="0" anchor="ctr"/>
          <a:lstStyle/>
          <a:p>
            <a:pPr marL="0" indent="0" algn="ctr">
              <a:buNone/>
            </a:pPr>
            <a:r>
              <a:rPr lang="en-US" sz="1300" b="1" dirty="0">
                <a:solidFill>
                  <a:srgbClr val="1B4332"/>
                </a:solidFill>
                <a:latin typeface="Arial Black" pitchFamily="34" charset="0"/>
                <a:ea typeface="Arial Black" pitchFamily="34" charset="-122"/>
                <a:cs typeface="Arial Black" pitchFamily="34" charset="-120"/>
              </a:rPr>
              <a:t>13</a:t>
            </a:r>
            <a:endParaRPr lang="en-US" sz="1300" dirty="0"/>
          </a:p>
        </p:txBody>
      </p:sp>
      <p:sp>
        <p:nvSpPr>
          <p:cNvPr id="176" name="Text 136"/>
          <p:cNvSpPr/>
          <p:nvPr/>
        </p:nvSpPr>
        <p:spPr>
          <a:xfrm>
            <a:off x="11932920" y="24780240"/>
            <a:ext cx="2560320" cy="274320"/>
          </a:xfrm>
          <a:prstGeom prst="rect">
            <a:avLst/>
          </a:prstGeom>
          <a:noFill/>
          <a:ln/>
        </p:spPr>
        <p:txBody>
          <a:bodyPr wrap="square" lIns="0" tIns="0" rIns="0" bIns="0" rtlCol="0" anchor="ctr"/>
          <a:lstStyle/>
          <a:p>
            <a:pPr marL="0" indent="0" algn="l">
              <a:buNone/>
            </a:pPr>
            <a:r>
              <a:rPr lang="en-US" sz="1300" dirty="0">
                <a:solidFill>
                  <a:srgbClr val="D8F3DC"/>
                </a:solidFill>
                <a:latin typeface="Arial" pitchFamily="34" charset="0"/>
                <a:ea typeface="Arial" pitchFamily="34" charset="-122"/>
                <a:cs typeface="Arial" pitchFamily="34" charset="-120"/>
              </a:rPr>
              <a:t>SDG 13: Climate Action</a:t>
            </a:r>
            <a:endParaRPr lang="en-US" sz="1300" dirty="0"/>
          </a:p>
        </p:txBody>
      </p:sp>
      <p:pic>
        <p:nvPicPr>
          <p:cNvPr id="177" name="Image 38" descr="preencoded.png"/>
          <p:cNvPicPr>
            <a:picLocks noChangeAspect="1"/>
          </p:cNvPicPr>
          <p:nvPr/>
        </p:nvPicPr>
        <p:blipFill>
          <a:blip r:embed="rId39"/>
          <a:stretch>
            <a:fillRect/>
          </a:stretch>
        </p:blipFill>
        <p:spPr>
          <a:xfrm>
            <a:off x="14950440" y="24185880"/>
            <a:ext cx="411480" cy="411480"/>
          </a:xfrm>
          <a:prstGeom prst="rect">
            <a:avLst/>
          </a:prstGeom>
        </p:spPr>
      </p:pic>
      <p:sp>
        <p:nvSpPr>
          <p:cNvPr id="178" name="Text 137"/>
          <p:cNvSpPr/>
          <p:nvPr/>
        </p:nvSpPr>
        <p:spPr>
          <a:xfrm>
            <a:off x="15499080" y="24140160"/>
            <a:ext cx="2560320" cy="274320"/>
          </a:xfrm>
          <a:prstGeom prst="rect">
            <a:avLst/>
          </a:prstGeom>
          <a:noFill/>
          <a:ln/>
        </p:spPr>
        <p:txBody>
          <a:bodyPr wrap="square" lIns="0" tIns="0" rIns="0" bIns="0" rtlCol="0" anchor="ctr"/>
          <a:lstStyle/>
          <a:p>
            <a:pPr marL="0" indent="0" algn="l">
              <a:buNone/>
            </a:pPr>
            <a:r>
              <a:rPr lang="en-US" sz="1300" b="1" dirty="0">
                <a:solidFill>
                  <a:srgbClr val="FFFFFF"/>
                </a:solidFill>
                <a:latin typeface="Arial" pitchFamily="34" charset="0"/>
                <a:ea typeface="Arial" pitchFamily="34" charset="-122"/>
                <a:cs typeface="Arial" pitchFamily="34" charset="-120"/>
              </a:rPr>
              <a:t>Social</a:t>
            </a:r>
            <a:endParaRPr lang="en-US" sz="1300" dirty="0"/>
          </a:p>
        </p:txBody>
      </p:sp>
      <p:sp>
        <p:nvSpPr>
          <p:cNvPr id="179" name="Text 138"/>
          <p:cNvSpPr/>
          <p:nvPr/>
        </p:nvSpPr>
        <p:spPr>
          <a:xfrm>
            <a:off x="15499080" y="24414480"/>
            <a:ext cx="2560320" cy="228600"/>
          </a:xfrm>
          <a:prstGeom prst="rect">
            <a:avLst/>
          </a:prstGeom>
          <a:noFill/>
          <a:ln/>
        </p:spPr>
        <p:txBody>
          <a:bodyPr wrap="square" lIns="0" tIns="0" rIns="0" bIns="0" rtlCol="0" anchor="ctr"/>
          <a:lstStyle/>
          <a:p>
            <a:pPr marL="0" indent="0" algn="l">
              <a:buNone/>
            </a:pPr>
            <a:r>
              <a:rPr lang="en-US" sz="1200" dirty="0">
                <a:solidFill>
                  <a:srgbClr val="95D5B2"/>
                </a:solidFill>
                <a:latin typeface="Arial" pitchFamily="34" charset="0"/>
                <a:ea typeface="Arial" pitchFamily="34" charset="-122"/>
                <a:cs typeface="Arial" pitchFamily="34" charset="-120"/>
              </a:rPr>
              <a:t>Protects livelihoods</a:t>
            </a:r>
            <a:endParaRPr lang="en-US" sz="1200" dirty="0"/>
          </a:p>
        </p:txBody>
      </p:sp>
      <p:grpSp>
        <p:nvGrpSpPr>
          <p:cNvPr id="203" name="object 20">
            <a:extLst>
              <a:ext uri="{FF2B5EF4-FFF2-40B4-BE49-F238E27FC236}">
                <a16:creationId xmlns:a16="http://schemas.microsoft.com/office/drawing/2014/main" id="{51E9F0CB-BC5A-E2A5-2946-28742A0CAE63}"/>
              </a:ext>
            </a:extLst>
          </p:cNvPr>
          <p:cNvGrpSpPr/>
          <p:nvPr/>
        </p:nvGrpSpPr>
        <p:grpSpPr>
          <a:xfrm>
            <a:off x="15694181" y="1424959"/>
            <a:ext cx="588645" cy="455930"/>
            <a:chOff x="11876165" y="1697672"/>
            <a:chExt cx="588645" cy="455930"/>
          </a:xfrm>
        </p:grpSpPr>
        <p:sp>
          <p:nvSpPr>
            <p:cNvPr id="204" name="object 21">
              <a:extLst>
                <a:ext uri="{FF2B5EF4-FFF2-40B4-BE49-F238E27FC236}">
                  <a16:creationId xmlns:a16="http://schemas.microsoft.com/office/drawing/2014/main" id="{44AB82A5-7B4A-2F92-388A-6E8C35974153}"/>
                </a:ext>
              </a:extLst>
            </p:cNvPr>
            <p:cNvSpPr/>
            <p:nvPr/>
          </p:nvSpPr>
          <p:spPr>
            <a:xfrm>
              <a:off x="11948283" y="1697672"/>
              <a:ext cx="220979" cy="308610"/>
            </a:xfrm>
            <a:custGeom>
              <a:avLst/>
              <a:gdLst/>
              <a:ahLst/>
              <a:cxnLst/>
              <a:rect l="l" t="t" r="r" b="b"/>
              <a:pathLst>
                <a:path w="220979" h="308610">
                  <a:moveTo>
                    <a:pt x="197307" y="0"/>
                  </a:moveTo>
                  <a:lnTo>
                    <a:pt x="0" y="17470"/>
                  </a:lnTo>
                  <a:lnTo>
                    <a:pt x="42537" y="140584"/>
                  </a:lnTo>
                  <a:lnTo>
                    <a:pt x="174738" y="159686"/>
                  </a:lnTo>
                  <a:lnTo>
                    <a:pt x="154304" y="307986"/>
                  </a:lnTo>
                  <a:lnTo>
                    <a:pt x="220506" y="283313"/>
                  </a:lnTo>
                  <a:lnTo>
                    <a:pt x="197307" y="0"/>
                  </a:lnTo>
                  <a:close/>
                </a:path>
              </a:pathLst>
            </a:custGeom>
            <a:solidFill>
              <a:srgbClr val="F9A519"/>
            </a:solidFill>
          </p:spPr>
          <p:txBody>
            <a:bodyPr wrap="square" lIns="0" tIns="0" rIns="0" bIns="0" rtlCol="0"/>
            <a:lstStyle/>
            <a:p>
              <a:endParaRPr/>
            </a:p>
          </p:txBody>
        </p:sp>
        <p:sp>
          <p:nvSpPr>
            <p:cNvPr id="205" name="object 22">
              <a:extLst>
                <a:ext uri="{FF2B5EF4-FFF2-40B4-BE49-F238E27FC236}">
                  <a16:creationId xmlns:a16="http://schemas.microsoft.com/office/drawing/2014/main" id="{515FA1B2-0C41-5D1F-1B2B-4E12C6DE1BC7}"/>
                </a:ext>
              </a:extLst>
            </p:cNvPr>
            <p:cNvSpPr/>
            <p:nvPr/>
          </p:nvSpPr>
          <p:spPr>
            <a:xfrm>
              <a:off x="11990795" y="1838263"/>
              <a:ext cx="132715" cy="185420"/>
            </a:xfrm>
            <a:custGeom>
              <a:avLst/>
              <a:gdLst/>
              <a:ahLst/>
              <a:cxnLst/>
              <a:rect l="l" t="t" r="r" b="b"/>
              <a:pathLst>
                <a:path w="132715" h="185419">
                  <a:moveTo>
                    <a:pt x="0" y="0"/>
                  </a:moveTo>
                  <a:lnTo>
                    <a:pt x="63972" y="185218"/>
                  </a:lnTo>
                  <a:lnTo>
                    <a:pt x="111813" y="167377"/>
                  </a:lnTo>
                  <a:lnTo>
                    <a:pt x="132223" y="19094"/>
                  </a:lnTo>
                  <a:lnTo>
                    <a:pt x="0" y="0"/>
                  </a:lnTo>
                  <a:close/>
                </a:path>
              </a:pathLst>
            </a:custGeom>
            <a:solidFill>
              <a:srgbClr val="FFFFFF"/>
            </a:solidFill>
          </p:spPr>
          <p:txBody>
            <a:bodyPr wrap="square" lIns="0" tIns="0" rIns="0" bIns="0" rtlCol="0"/>
            <a:lstStyle/>
            <a:p>
              <a:endParaRPr/>
            </a:p>
          </p:txBody>
        </p:sp>
        <p:sp>
          <p:nvSpPr>
            <p:cNvPr id="206" name="object 23">
              <a:extLst>
                <a:ext uri="{FF2B5EF4-FFF2-40B4-BE49-F238E27FC236}">
                  <a16:creationId xmlns:a16="http://schemas.microsoft.com/office/drawing/2014/main" id="{DE6FDC0C-8645-2FAA-AC26-3ECB1FC36362}"/>
                </a:ext>
              </a:extLst>
            </p:cNvPr>
            <p:cNvSpPr/>
            <p:nvPr/>
          </p:nvSpPr>
          <p:spPr>
            <a:xfrm>
              <a:off x="11876165" y="1826138"/>
              <a:ext cx="226695" cy="255270"/>
            </a:xfrm>
            <a:custGeom>
              <a:avLst/>
              <a:gdLst/>
              <a:ahLst/>
              <a:cxnLst/>
              <a:rect l="l" t="t" r="r" b="b"/>
              <a:pathLst>
                <a:path w="226695" h="255269">
                  <a:moveTo>
                    <a:pt x="30843" y="0"/>
                  </a:moveTo>
                  <a:lnTo>
                    <a:pt x="0" y="223863"/>
                  </a:lnTo>
                  <a:lnTo>
                    <a:pt x="216015" y="255054"/>
                  </a:lnTo>
                  <a:lnTo>
                    <a:pt x="226440" y="179505"/>
                  </a:lnTo>
                  <a:lnTo>
                    <a:pt x="178607" y="197338"/>
                  </a:lnTo>
                  <a:lnTo>
                    <a:pt x="114627" y="12127"/>
                  </a:lnTo>
                  <a:lnTo>
                    <a:pt x="30843" y="0"/>
                  </a:lnTo>
                  <a:close/>
                </a:path>
              </a:pathLst>
            </a:custGeom>
            <a:solidFill>
              <a:srgbClr val="008CCE"/>
            </a:solidFill>
          </p:spPr>
          <p:txBody>
            <a:bodyPr wrap="square" lIns="0" tIns="0" rIns="0" bIns="0" rtlCol="0"/>
            <a:lstStyle/>
            <a:p>
              <a:endParaRPr dirty="0"/>
            </a:p>
          </p:txBody>
        </p:sp>
        <p:pic>
          <p:nvPicPr>
            <p:cNvPr id="207" name="object 24">
              <a:extLst>
                <a:ext uri="{FF2B5EF4-FFF2-40B4-BE49-F238E27FC236}">
                  <a16:creationId xmlns:a16="http://schemas.microsoft.com/office/drawing/2014/main" id="{BC8FA8E9-5D02-8AE6-88BF-0C915968C0A6}"/>
                </a:ext>
              </a:extLst>
            </p:cNvPr>
            <p:cNvPicPr/>
            <p:nvPr/>
          </p:nvPicPr>
          <p:blipFill>
            <a:blip r:embed="rId40" cstate="print"/>
            <a:stretch>
              <a:fillRect/>
            </a:stretch>
          </p:blipFill>
          <p:spPr>
            <a:xfrm>
              <a:off x="12197471" y="1998179"/>
              <a:ext cx="149755" cy="155358"/>
            </a:xfrm>
            <a:prstGeom prst="rect">
              <a:avLst/>
            </a:prstGeom>
          </p:spPr>
        </p:pic>
        <p:pic>
          <p:nvPicPr>
            <p:cNvPr id="208" name="object 25">
              <a:extLst>
                <a:ext uri="{FF2B5EF4-FFF2-40B4-BE49-F238E27FC236}">
                  <a16:creationId xmlns:a16="http://schemas.microsoft.com/office/drawing/2014/main" id="{FCC1111A-0331-FEE4-D610-7EC113B00AB6}"/>
                </a:ext>
              </a:extLst>
            </p:cNvPr>
            <p:cNvPicPr/>
            <p:nvPr/>
          </p:nvPicPr>
          <p:blipFill>
            <a:blip r:embed="rId41" cstate="print"/>
            <a:stretch>
              <a:fillRect/>
            </a:stretch>
          </p:blipFill>
          <p:spPr>
            <a:xfrm>
              <a:off x="12373545" y="2000061"/>
              <a:ext cx="91151" cy="115675"/>
            </a:xfrm>
            <a:prstGeom prst="rect">
              <a:avLst/>
            </a:prstGeom>
          </p:spPr>
        </p:pic>
      </p:grpSp>
      <p:pic>
        <p:nvPicPr>
          <p:cNvPr id="209" name="object 26">
            <a:extLst>
              <a:ext uri="{FF2B5EF4-FFF2-40B4-BE49-F238E27FC236}">
                <a16:creationId xmlns:a16="http://schemas.microsoft.com/office/drawing/2014/main" id="{94FEABEE-3110-0109-A8B4-D7C635FA680B}"/>
              </a:ext>
            </a:extLst>
          </p:cNvPr>
          <p:cNvPicPr/>
          <p:nvPr/>
        </p:nvPicPr>
        <p:blipFill>
          <a:blip r:embed="rId42" cstate="print"/>
          <a:stretch>
            <a:fillRect/>
          </a:stretch>
        </p:blipFill>
        <p:spPr>
          <a:xfrm>
            <a:off x="16476433" y="1513751"/>
            <a:ext cx="856014" cy="272412"/>
          </a:xfrm>
          <a:prstGeom prst="rect">
            <a:avLst/>
          </a:prstGeom>
        </p:spPr>
      </p:pic>
      <p:sp>
        <p:nvSpPr>
          <p:cNvPr id="210" name="object 27">
            <a:extLst>
              <a:ext uri="{FF2B5EF4-FFF2-40B4-BE49-F238E27FC236}">
                <a16:creationId xmlns:a16="http://schemas.microsoft.com/office/drawing/2014/main" id="{424C5D8C-3D2C-CBAF-4C77-C5B5D8FF8577}"/>
              </a:ext>
            </a:extLst>
          </p:cNvPr>
          <p:cNvSpPr/>
          <p:nvPr/>
        </p:nvSpPr>
        <p:spPr>
          <a:xfrm>
            <a:off x="16381507" y="1424965"/>
            <a:ext cx="12700" cy="469265"/>
          </a:xfrm>
          <a:custGeom>
            <a:avLst/>
            <a:gdLst/>
            <a:ahLst/>
            <a:cxnLst/>
            <a:rect l="l" t="t" r="r" b="b"/>
            <a:pathLst>
              <a:path w="12700" h="469264">
                <a:moveTo>
                  <a:pt x="12403" y="0"/>
                </a:moveTo>
                <a:lnTo>
                  <a:pt x="0" y="0"/>
                </a:lnTo>
                <a:lnTo>
                  <a:pt x="0" y="469091"/>
                </a:lnTo>
                <a:lnTo>
                  <a:pt x="12403" y="469091"/>
                </a:lnTo>
                <a:lnTo>
                  <a:pt x="12403" y="0"/>
                </a:lnTo>
                <a:close/>
              </a:path>
            </a:pathLst>
          </a:custGeom>
          <a:solidFill>
            <a:srgbClr val="59595B"/>
          </a:solidFill>
        </p:spPr>
        <p:txBody>
          <a:bodyPr wrap="square" lIns="0" tIns="0" rIns="0" bIns="0" rtlCol="0"/>
          <a:lstStyle/>
          <a:p>
            <a:endParaRPr/>
          </a:p>
        </p:txBody>
      </p:sp>
      <p:sp>
        <p:nvSpPr>
          <p:cNvPr id="211" name="object 28">
            <a:extLst>
              <a:ext uri="{FF2B5EF4-FFF2-40B4-BE49-F238E27FC236}">
                <a16:creationId xmlns:a16="http://schemas.microsoft.com/office/drawing/2014/main" id="{1A194242-B627-A7CC-9D8B-30B233F2DD95}"/>
              </a:ext>
            </a:extLst>
          </p:cNvPr>
          <p:cNvSpPr/>
          <p:nvPr/>
        </p:nvSpPr>
        <p:spPr>
          <a:xfrm>
            <a:off x="16137553" y="585775"/>
            <a:ext cx="218440" cy="285750"/>
          </a:xfrm>
          <a:custGeom>
            <a:avLst/>
            <a:gdLst/>
            <a:ahLst/>
            <a:cxnLst/>
            <a:rect l="l" t="t" r="r" b="b"/>
            <a:pathLst>
              <a:path w="218440" h="285750">
                <a:moveTo>
                  <a:pt x="218237" y="0"/>
                </a:moveTo>
                <a:lnTo>
                  <a:pt x="168622" y="0"/>
                </a:lnTo>
                <a:lnTo>
                  <a:pt x="168622" y="173256"/>
                </a:lnTo>
                <a:lnTo>
                  <a:pt x="164892" y="200016"/>
                </a:lnTo>
                <a:lnTo>
                  <a:pt x="153845" y="219558"/>
                </a:lnTo>
                <a:lnTo>
                  <a:pt x="135697" y="231536"/>
                </a:lnTo>
                <a:lnTo>
                  <a:pt x="110663" y="235605"/>
                </a:lnTo>
                <a:lnTo>
                  <a:pt x="83614" y="231714"/>
                </a:lnTo>
                <a:lnTo>
                  <a:pt x="64429" y="220034"/>
                </a:lnTo>
                <a:lnTo>
                  <a:pt x="52998" y="200552"/>
                </a:lnTo>
                <a:lnTo>
                  <a:pt x="49212" y="173256"/>
                </a:lnTo>
                <a:lnTo>
                  <a:pt x="49212" y="0"/>
                </a:lnTo>
                <a:lnTo>
                  <a:pt x="0" y="0"/>
                </a:lnTo>
                <a:lnTo>
                  <a:pt x="0" y="170356"/>
                </a:lnTo>
                <a:lnTo>
                  <a:pt x="1771" y="203954"/>
                </a:lnTo>
                <a:lnTo>
                  <a:pt x="18597" y="248882"/>
                </a:lnTo>
                <a:lnTo>
                  <a:pt x="50641" y="274091"/>
                </a:lnTo>
                <a:lnTo>
                  <a:pt x="109079" y="285188"/>
                </a:lnTo>
                <a:lnTo>
                  <a:pt x="131532" y="283978"/>
                </a:lnTo>
                <a:lnTo>
                  <a:pt x="182445" y="264833"/>
                </a:lnTo>
                <a:lnTo>
                  <a:pt x="210518" y="229208"/>
                </a:lnTo>
                <a:lnTo>
                  <a:pt x="218237" y="170356"/>
                </a:lnTo>
                <a:lnTo>
                  <a:pt x="218237" y="0"/>
                </a:lnTo>
                <a:close/>
              </a:path>
            </a:pathLst>
          </a:custGeom>
          <a:solidFill>
            <a:srgbClr val="6D6D70">
              <a:alpha val="75000"/>
            </a:srgbClr>
          </a:solidFill>
        </p:spPr>
        <p:txBody>
          <a:bodyPr wrap="square" lIns="0" tIns="0" rIns="0" bIns="0" rtlCol="0"/>
          <a:lstStyle/>
          <a:p>
            <a:endParaRPr/>
          </a:p>
        </p:txBody>
      </p:sp>
      <p:grpSp>
        <p:nvGrpSpPr>
          <p:cNvPr id="212" name="object 29">
            <a:extLst>
              <a:ext uri="{FF2B5EF4-FFF2-40B4-BE49-F238E27FC236}">
                <a16:creationId xmlns:a16="http://schemas.microsoft.com/office/drawing/2014/main" id="{EAE9DA42-46CD-EA16-E6BB-82B7571962F9}"/>
              </a:ext>
            </a:extLst>
          </p:cNvPr>
          <p:cNvGrpSpPr/>
          <p:nvPr/>
        </p:nvGrpSpPr>
        <p:grpSpPr>
          <a:xfrm>
            <a:off x="15712949" y="581139"/>
            <a:ext cx="446405" cy="542925"/>
            <a:chOff x="11894933" y="853852"/>
            <a:chExt cx="446405" cy="542925"/>
          </a:xfrm>
        </p:grpSpPr>
        <p:sp>
          <p:nvSpPr>
            <p:cNvPr id="213" name="object 30">
              <a:extLst>
                <a:ext uri="{FF2B5EF4-FFF2-40B4-BE49-F238E27FC236}">
                  <a16:creationId xmlns:a16="http://schemas.microsoft.com/office/drawing/2014/main" id="{02040CDB-0CFB-7B4C-570E-3E943CCBA7D1}"/>
                </a:ext>
              </a:extLst>
            </p:cNvPr>
            <p:cNvSpPr/>
            <p:nvPr/>
          </p:nvSpPr>
          <p:spPr>
            <a:xfrm>
              <a:off x="11898021" y="853858"/>
              <a:ext cx="358775" cy="383540"/>
            </a:xfrm>
            <a:custGeom>
              <a:avLst/>
              <a:gdLst/>
              <a:ahLst/>
              <a:cxnLst/>
              <a:rect l="l" t="t" r="r" b="b"/>
              <a:pathLst>
                <a:path w="358775" h="383540">
                  <a:moveTo>
                    <a:pt x="237921" y="159321"/>
                  </a:moveTo>
                  <a:lnTo>
                    <a:pt x="188315" y="159321"/>
                  </a:lnTo>
                  <a:lnTo>
                    <a:pt x="188315" y="236423"/>
                  </a:lnTo>
                  <a:lnTo>
                    <a:pt x="178168" y="239306"/>
                  </a:lnTo>
                  <a:lnTo>
                    <a:pt x="169989" y="241122"/>
                  </a:lnTo>
                  <a:lnTo>
                    <a:pt x="162496" y="242062"/>
                  </a:lnTo>
                  <a:lnTo>
                    <a:pt x="154368" y="242328"/>
                  </a:lnTo>
                  <a:lnTo>
                    <a:pt x="113944" y="234619"/>
                  </a:lnTo>
                  <a:lnTo>
                    <a:pt x="81457" y="213372"/>
                  </a:lnTo>
                  <a:lnTo>
                    <a:pt x="59817" y="181394"/>
                  </a:lnTo>
                  <a:lnTo>
                    <a:pt x="51955" y="141490"/>
                  </a:lnTo>
                  <a:lnTo>
                    <a:pt x="59207" y="103378"/>
                  </a:lnTo>
                  <a:lnTo>
                    <a:pt x="79540" y="73621"/>
                  </a:lnTo>
                  <a:lnTo>
                    <a:pt x="110794" y="54279"/>
                  </a:lnTo>
                  <a:lnTo>
                    <a:pt x="150837" y="47371"/>
                  </a:lnTo>
                  <a:lnTo>
                    <a:pt x="163588" y="48018"/>
                  </a:lnTo>
                  <a:lnTo>
                    <a:pt x="204406" y="57607"/>
                  </a:lnTo>
                  <a:lnTo>
                    <a:pt x="225679" y="65646"/>
                  </a:lnTo>
                  <a:lnTo>
                    <a:pt x="237591" y="21183"/>
                  </a:lnTo>
                  <a:lnTo>
                    <a:pt x="198907" y="6324"/>
                  </a:lnTo>
                  <a:lnTo>
                    <a:pt x="158686" y="393"/>
                  </a:lnTo>
                  <a:lnTo>
                    <a:pt x="144538" y="0"/>
                  </a:lnTo>
                  <a:lnTo>
                    <a:pt x="113461" y="2120"/>
                  </a:lnTo>
                  <a:lnTo>
                    <a:pt x="63754" y="20358"/>
                  </a:lnTo>
                  <a:lnTo>
                    <a:pt x="24384" y="59626"/>
                  </a:lnTo>
                  <a:lnTo>
                    <a:pt x="2768" y="113385"/>
                  </a:lnTo>
                  <a:lnTo>
                    <a:pt x="0" y="144081"/>
                  </a:lnTo>
                  <a:lnTo>
                    <a:pt x="6908" y="192430"/>
                  </a:lnTo>
                  <a:lnTo>
                    <a:pt x="26593" y="232714"/>
                  </a:lnTo>
                  <a:lnTo>
                    <a:pt x="57429" y="263410"/>
                  </a:lnTo>
                  <a:lnTo>
                    <a:pt x="97802" y="282968"/>
                  </a:lnTo>
                  <a:lnTo>
                    <a:pt x="146126" y="289826"/>
                  </a:lnTo>
                  <a:lnTo>
                    <a:pt x="161607" y="289318"/>
                  </a:lnTo>
                  <a:lnTo>
                    <a:pt x="176618" y="287705"/>
                  </a:lnTo>
                  <a:lnTo>
                    <a:pt x="192747" y="284810"/>
                  </a:lnTo>
                  <a:lnTo>
                    <a:pt x="211556" y="280517"/>
                  </a:lnTo>
                  <a:lnTo>
                    <a:pt x="237921" y="273659"/>
                  </a:lnTo>
                  <a:lnTo>
                    <a:pt x="237921" y="159321"/>
                  </a:lnTo>
                  <a:close/>
                </a:path>
                <a:path w="358775" h="383540">
                  <a:moveTo>
                    <a:pt x="358521" y="4635"/>
                  </a:moveTo>
                  <a:lnTo>
                    <a:pt x="309245" y="4635"/>
                  </a:lnTo>
                  <a:lnTo>
                    <a:pt x="309245" y="244462"/>
                  </a:lnTo>
                  <a:lnTo>
                    <a:pt x="308546" y="265379"/>
                  </a:lnTo>
                  <a:lnTo>
                    <a:pt x="296633" y="315264"/>
                  </a:lnTo>
                  <a:lnTo>
                    <a:pt x="274523" y="356400"/>
                  </a:lnTo>
                  <a:lnTo>
                    <a:pt x="311594" y="383019"/>
                  </a:lnTo>
                  <a:lnTo>
                    <a:pt x="337185" y="344525"/>
                  </a:lnTo>
                  <a:lnTo>
                    <a:pt x="353656" y="308241"/>
                  </a:lnTo>
                  <a:lnTo>
                    <a:pt x="358521" y="292354"/>
                  </a:lnTo>
                  <a:lnTo>
                    <a:pt x="358521" y="4635"/>
                  </a:lnTo>
                  <a:close/>
                </a:path>
              </a:pathLst>
            </a:custGeom>
            <a:solidFill>
              <a:srgbClr val="6D6D70">
                <a:alpha val="75000"/>
              </a:srgbClr>
            </a:solidFill>
          </p:spPr>
          <p:txBody>
            <a:bodyPr wrap="square" lIns="0" tIns="0" rIns="0" bIns="0" rtlCol="0"/>
            <a:lstStyle/>
            <a:p>
              <a:endParaRPr/>
            </a:p>
          </p:txBody>
        </p:sp>
        <p:pic>
          <p:nvPicPr>
            <p:cNvPr id="214" name="object 31">
              <a:extLst>
                <a:ext uri="{FF2B5EF4-FFF2-40B4-BE49-F238E27FC236}">
                  <a16:creationId xmlns:a16="http://schemas.microsoft.com/office/drawing/2014/main" id="{3E1A2EDB-E97B-4403-B8FC-9FAF15E21DAA}"/>
                </a:ext>
              </a:extLst>
            </p:cNvPr>
            <p:cNvPicPr/>
            <p:nvPr/>
          </p:nvPicPr>
          <p:blipFill>
            <a:blip r:embed="rId43" cstate="print"/>
            <a:stretch>
              <a:fillRect/>
            </a:stretch>
          </p:blipFill>
          <p:spPr>
            <a:xfrm>
              <a:off x="11894933" y="1278454"/>
              <a:ext cx="84997" cy="117731"/>
            </a:xfrm>
            <a:prstGeom prst="rect">
              <a:avLst/>
            </a:prstGeom>
          </p:spPr>
        </p:pic>
        <p:pic>
          <p:nvPicPr>
            <p:cNvPr id="215" name="object 32">
              <a:extLst>
                <a:ext uri="{FF2B5EF4-FFF2-40B4-BE49-F238E27FC236}">
                  <a16:creationId xmlns:a16="http://schemas.microsoft.com/office/drawing/2014/main" id="{EBB1B799-7ACF-55D6-8E72-73E1EC194B65}"/>
                </a:ext>
              </a:extLst>
            </p:cNvPr>
            <p:cNvPicPr/>
            <p:nvPr/>
          </p:nvPicPr>
          <p:blipFill>
            <a:blip r:embed="rId44" cstate="print"/>
            <a:stretch>
              <a:fillRect/>
            </a:stretch>
          </p:blipFill>
          <p:spPr>
            <a:xfrm>
              <a:off x="12047855" y="1278453"/>
              <a:ext cx="105919" cy="117731"/>
            </a:xfrm>
            <a:prstGeom prst="rect">
              <a:avLst/>
            </a:prstGeom>
          </p:spPr>
        </p:pic>
        <p:pic>
          <p:nvPicPr>
            <p:cNvPr id="216" name="object 33">
              <a:extLst>
                <a:ext uri="{FF2B5EF4-FFF2-40B4-BE49-F238E27FC236}">
                  <a16:creationId xmlns:a16="http://schemas.microsoft.com/office/drawing/2014/main" id="{4B923F2A-1F06-CD95-FD94-74527CD27112}"/>
                </a:ext>
              </a:extLst>
            </p:cNvPr>
            <p:cNvPicPr/>
            <p:nvPr/>
          </p:nvPicPr>
          <p:blipFill>
            <a:blip r:embed="rId45" cstate="print"/>
            <a:stretch>
              <a:fillRect/>
            </a:stretch>
          </p:blipFill>
          <p:spPr>
            <a:xfrm>
              <a:off x="12235438" y="1280512"/>
              <a:ext cx="105446" cy="113437"/>
            </a:xfrm>
            <a:prstGeom prst="rect">
              <a:avLst/>
            </a:prstGeom>
          </p:spPr>
        </p:pic>
      </p:grpSp>
      <p:pic>
        <p:nvPicPr>
          <p:cNvPr id="217" name="object 34">
            <a:extLst>
              <a:ext uri="{FF2B5EF4-FFF2-40B4-BE49-F238E27FC236}">
                <a16:creationId xmlns:a16="http://schemas.microsoft.com/office/drawing/2014/main" id="{59C3F0F1-292B-3801-8070-3C12A3AA857B}"/>
              </a:ext>
            </a:extLst>
          </p:cNvPr>
          <p:cNvPicPr/>
          <p:nvPr/>
        </p:nvPicPr>
        <p:blipFill>
          <a:blip r:embed="rId46" cstate="print"/>
          <a:stretch>
            <a:fillRect/>
          </a:stretch>
        </p:blipFill>
        <p:spPr>
          <a:xfrm>
            <a:off x="16250006" y="1007805"/>
            <a:ext cx="66943" cy="113429"/>
          </a:xfrm>
          <a:prstGeom prst="rect">
            <a:avLst/>
          </a:prstGeom>
        </p:spPr>
      </p:pic>
      <p:sp>
        <p:nvSpPr>
          <p:cNvPr id="218" name="object 35">
            <a:extLst>
              <a:ext uri="{FF2B5EF4-FFF2-40B4-BE49-F238E27FC236}">
                <a16:creationId xmlns:a16="http://schemas.microsoft.com/office/drawing/2014/main" id="{869A8D0E-660D-9699-D5CF-73EB4E333A87}"/>
              </a:ext>
            </a:extLst>
          </p:cNvPr>
          <p:cNvSpPr/>
          <p:nvPr/>
        </p:nvSpPr>
        <p:spPr>
          <a:xfrm>
            <a:off x="16395093" y="1008208"/>
            <a:ext cx="60960" cy="113030"/>
          </a:xfrm>
          <a:custGeom>
            <a:avLst/>
            <a:gdLst/>
            <a:ahLst/>
            <a:cxnLst/>
            <a:rect l="l" t="t" r="r" b="b"/>
            <a:pathLst>
              <a:path w="60959" h="113030">
                <a:moveTo>
                  <a:pt x="60718" y="101600"/>
                </a:moveTo>
                <a:lnTo>
                  <a:pt x="13106" y="101600"/>
                </a:lnTo>
                <a:lnTo>
                  <a:pt x="13106" y="60960"/>
                </a:lnTo>
                <a:lnTo>
                  <a:pt x="51295" y="60960"/>
                </a:lnTo>
                <a:lnTo>
                  <a:pt x="51295" y="49530"/>
                </a:lnTo>
                <a:lnTo>
                  <a:pt x="13106" y="49530"/>
                </a:lnTo>
                <a:lnTo>
                  <a:pt x="13106" y="11430"/>
                </a:lnTo>
                <a:lnTo>
                  <a:pt x="59270" y="11430"/>
                </a:lnTo>
                <a:lnTo>
                  <a:pt x="59270" y="0"/>
                </a:lnTo>
                <a:lnTo>
                  <a:pt x="0" y="0"/>
                </a:lnTo>
                <a:lnTo>
                  <a:pt x="0" y="11430"/>
                </a:lnTo>
                <a:lnTo>
                  <a:pt x="0" y="49530"/>
                </a:lnTo>
                <a:lnTo>
                  <a:pt x="0" y="60960"/>
                </a:lnTo>
                <a:lnTo>
                  <a:pt x="0" y="101600"/>
                </a:lnTo>
                <a:lnTo>
                  <a:pt x="0" y="113030"/>
                </a:lnTo>
                <a:lnTo>
                  <a:pt x="60718" y="113030"/>
                </a:lnTo>
                <a:lnTo>
                  <a:pt x="60718" y="101600"/>
                </a:lnTo>
                <a:close/>
              </a:path>
            </a:pathLst>
          </a:custGeom>
          <a:solidFill>
            <a:srgbClr val="6D6D70">
              <a:alpha val="75000"/>
            </a:srgbClr>
          </a:solidFill>
        </p:spPr>
        <p:txBody>
          <a:bodyPr wrap="square" lIns="0" tIns="0" rIns="0" bIns="0" rtlCol="0"/>
          <a:lstStyle/>
          <a:p>
            <a:endParaRPr/>
          </a:p>
        </p:txBody>
      </p:sp>
      <p:sp>
        <p:nvSpPr>
          <p:cNvPr id="219" name="object 36">
            <a:extLst>
              <a:ext uri="{FF2B5EF4-FFF2-40B4-BE49-F238E27FC236}">
                <a16:creationId xmlns:a16="http://schemas.microsoft.com/office/drawing/2014/main" id="{55F7485D-1DB4-ADA3-CC3C-218A582EFDCE}"/>
              </a:ext>
            </a:extLst>
          </p:cNvPr>
          <p:cNvSpPr/>
          <p:nvPr/>
        </p:nvSpPr>
        <p:spPr>
          <a:xfrm>
            <a:off x="16521331" y="1008233"/>
            <a:ext cx="83820" cy="113030"/>
          </a:xfrm>
          <a:custGeom>
            <a:avLst/>
            <a:gdLst/>
            <a:ahLst/>
            <a:cxnLst/>
            <a:rect l="l" t="t" r="r" b="b"/>
            <a:pathLst>
              <a:path w="83820" h="113030">
                <a:moveTo>
                  <a:pt x="83400" y="0"/>
                </a:moveTo>
                <a:lnTo>
                  <a:pt x="0" y="0"/>
                </a:lnTo>
                <a:lnTo>
                  <a:pt x="0" y="11430"/>
                </a:lnTo>
                <a:lnTo>
                  <a:pt x="35153" y="11430"/>
                </a:lnTo>
                <a:lnTo>
                  <a:pt x="35153" y="113030"/>
                </a:lnTo>
                <a:lnTo>
                  <a:pt x="48247" y="113030"/>
                </a:lnTo>
                <a:lnTo>
                  <a:pt x="48247" y="11430"/>
                </a:lnTo>
                <a:lnTo>
                  <a:pt x="83400" y="11430"/>
                </a:lnTo>
                <a:lnTo>
                  <a:pt x="83400" y="0"/>
                </a:lnTo>
                <a:close/>
              </a:path>
            </a:pathLst>
          </a:custGeom>
          <a:solidFill>
            <a:srgbClr val="6D6D70">
              <a:alpha val="75000"/>
            </a:srgbClr>
          </a:solidFill>
        </p:spPr>
        <p:txBody>
          <a:bodyPr wrap="square" lIns="0" tIns="0" rIns="0" bIns="0" rtlCol="0"/>
          <a:lstStyle/>
          <a:p>
            <a:endParaRPr/>
          </a:p>
        </p:txBody>
      </p:sp>
      <p:sp>
        <p:nvSpPr>
          <p:cNvPr id="220" name="object 37">
            <a:extLst>
              <a:ext uri="{FF2B5EF4-FFF2-40B4-BE49-F238E27FC236}">
                <a16:creationId xmlns:a16="http://schemas.microsoft.com/office/drawing/2014/main" id="{DB811993-B1E5-FF59-2793-E0F859A8BD0D}"/>
              </a:ext>
            </a:extLst>
          </p:cNvPr>
          <p:cNvSpPr/>
          <p:nvPr/>
        </p:nvSpPr>
        <p:spPr>
          <a:xfrm>
            <a:off x="16679847" y="1007805"/>
            <a:ext cx="13335" cy="113664"/>
          </a:xfrm>
          <a:custGeom>
            <a:avLst/>
            <a:gdLst/>
            <a:ahLst/>
            <a:cxnLst/>
            <a:rect l="l" t="t" r="r" b="b"/>
            <a:pathLst>
              <a:path w="13334" h="113665">
                <a:moveTo>
                  <a:pt x="13104" y="0"/>
                </a:moveTo>
                <a:lnTo>
                  <a:pt x="0" y="0"/>
                </a:lnTo>
                <a:lnTo>
                  <a:pt x="0" y="113437"/>
                </a:lnTo>
                <a:lnTo>
                  <a:pt x="13104" y="113437"/>
                </a:lnTo>
                <a:lnTo>
                  <a:pt x="13104" y="0"/>
                </a:lnTo>
                <a:close/>
              </a:path>
            </a:pathLst>
          </a:custGeom>
          <a:solidFill>
            <a:srgbClr val="6D6D70">
              <a:alpha val="75000"/>
            </a:srgbClr>
          </a:solidFill>
        </p:spPr>
        <p:txBody>
          <a:bodyPr wrap="square" lIns="0" tIns="0" rIns="0" bIns="0" rtlCol="0"/>
          <a:lstStyle/>
          <a:p>
            <a:endParaRPr/>
          </a:p>
        </p:txBody>
      </p:sp>
      <p:sp>
        <p:nvSpPr>
          <p:cNvPr id="221" name="object 38">
            <a:extLst>
              <a:ext uri="{FF2B5EF4-FFF2-40B4-BE49-F238E27FC236}">
                <a16:creationId xmlns:a16="http://schemas.microsoft.com/office/drawing/2014/main" id="{E419DF02-4A61-92EA-E356-9C02819532BD}"/>
              </a:ext>
            </a:extLst>
          </p:cNvPr>
          <p:cNvSpPr/>
          <p:nvPr/>
        </p:nvSpPr>
        <p:spPr>
          <a:xfrm>
            <a:off x="16767889" y="1008233"/>
            <a:ext cx="83820" cy="113030"/>
          </a:xfrm>
          <a:custGeom>
            <a:avLst/>
            <a:gdLst/>
            <a:ahLst/>
            <a:cxnLst/>
            <a:rect l="l" t="t" r="r" b="b"/>
            <a:pathLst>
              <a:path w="83819" h="113030">
                <a:moveTo>
                  <a:pt x="83388" y="0"/>
                </a:moveTo>
                <a:lnTo>
                  <a:pt x="0" y="0"/>
                </a:lnTo>
                <a:lnTo>
                  <a:pt x="0" y="11430"/>
                </a:lnTo>
                <a:lnTo>
                  <a:pt x="35140" y="11430"/>
                </a:lnTo>
                <a:lnTo>
                  <a:pt x="35140" y="113030"/>
                </a:lnTo>
                <a:lnTo>
                  <a:pt x="48247" y="113030"/>
                </a:lnTo>
                <a:lnTo>
                  <a:pt x="48247" y="11430"/>
                </a:lnTo>
                <a:lnTo>
                  <a:pt x="83388" y="11430"/>
                </a:lnTo>
                <a:lnTo>
                  <a:pt x="83388" y="0"/>
                </a:lnTo>
                <a:close/>
              </a:path>
            </a:pathLst>
          </a:custGeom>
          <a:solidFill>
            <a:srgbClr val="6D6D70">
              <a:alpha val="75000"/>
            </a:srgbClr>
          </a:solidFill>
        </p:spPr>
        <p:txBody>
          <a:bodyPr wrap="square" lIns="0" tIns="0" rIns="0" bIns="0" rtlCol="0"/>
          <a:lstStyle/>
          <a:p>
            <a:endParaRPr/>
          </a:p>
        </p:txBody>
      </p:sp>
      <p:sp>
        <p:nvSpPr>
          <p:cNvPr id="222" name="object 39">
            <a:extLst>
              <a:ext uri="{FF2B5EF4-FFF2-40B4-BE49-F238E27FC236}">
                <a16:creationId xmlns:a16="http://schemas.microsoft.com/office/drawing/2014/main" id="{2398890F-BF8E-09B3-68EC-209C77CB9132}"/>
              </a:ext>
            </a:extLst>
          </p:cNvPr>
          <p:cNvSpPr/>
          <p:nvPr/>
        </p:nvSpPr>
        <p:spPr>
          <a:xfrm>
            <a:off x="16926398" y="1007805"/>
            <a:ext cx="13335" cy="113664"/>
          </a:xfrm>
          <a:custGeom>
            <a:avLst/>
            <a:gdLst/>
            <a:ahLst/>
            <a:cxnLst/>
            <a:rect l="l" t="t" r="r" b="b"/>
            <a:pathLst>
              <a:path w="13334" h="113665">
                <a:moveTo>
                  <a:pt x="13112" y="0"/>
                </a:moveTo>
                <a:lnTo>
                  <a:pt x="0" y="0"/>
                </a:lnTo>
                <a:lnTo>
                  <a:pt x="0" y="113437"/>
                </a:lnTo>
                <a:lnTo>
                  <a:pt x="13112" y="113437"/>
                </a:lnTo>
                <a:lnTo>
                  <a:pt x="13112" y="0"/>
                </a:lnTo>
                <a:close/>
              </a:path>
            </a:pathLst>
          </a:custGeom>
          <a:solidFill>
            <a:srgbClr val="6D6D70">
              <a:alpha val="75000"/>
            </a:srgbClr>
          </a:solidFill>
        </p:spPr>
        <p:txBody>
          <a:bodyPr wrap="square" lIns="0" tIns="0" rIns="0" bIns="0" rtlCol="0"/>
          <a:lstStyle/>
          <a:p>
            <a:endParaRPr/>
          </a:p>
        </p:txBody>
      </p:sp>
      <p:pic>
        <p:nvPicPr>
          <p:cNvPr id="223" name="object 40">
            <a:extLst>
              <a:ext uri="{FF2B5EF4-FFF2-40B4-BE49-F238E27FC236}">
                <a16:creationId xmlns:a16="http://schemas.microsoft.com/office/drawing/2014/main" id="{8A2EACB4-6CC6-96B0-1152-EAE3E7A05F64}"/>
              </a:ext>
            </a:extLst>
          </p:cNvPr>
          <p:cNvPicPr/>
          <p:nvPr/>
        </p:nvPicPr>
        <p:blipFill>
          <a:blip r:embed="rId47" cstate="print"/>
          <a:stretch>
            <a:fillRect/>
          </a:stretch>
        </p:blipFill>
        <p:spPr>
          <a:xfrm>
            <a:off x="17021169" y="1005740"/>
            <a:ext cx="105919" cy="117731"/>
          </a:xfrm>
          <a:prstGeom prst="rect">
            <a:avLst/>
          </a:prstGeom>
        </p:spPr>
      </p:pic>
      <p:pic>
        <p:nvPicPr>
          <p:cNvPr id="224" name="object 41">
            <a:extLst>
              <a:ext uri="{FF2B5EF4-FFF2-40B4-BE49-F238E27FC236}">
                <a16:creationId xmlns:a16="http://schemas.microsoft.com/office/drawing/2014/main" id="{8BD74F54-0543-38F8-FC66-28F25456BE8F}"/>
              </a:ext>
            </a:extLst>
          </p:cNvPr>
          <p:cNvPicPr/>
          <p:nvPr/>
        </p:nvPicPr>
        <p:blipFill>
          <a:blip r:embed="rId48" cstate="print"/>
          <a:stretch>
            <a:fillRect/>
          </a:stretch>
        </p:blipFill>
        <p:spPr>
          <a:xfrm>
            <a:off x="17208761" y="1007806"/>
            <a:ext cx="86439" cy="114461"/>
          </a:xfrm>
          <a:prstGeom prst="rect">
            <a:avLst/>
          </a:prstGeom>
        </p:spPr>
      </p:pic>
      <p:pic>
        <p:nvPicPr>
          <p:cNvPr id="225" name="object 42">
            <a:extLst>
              <a:ext uri="{FF2B5EF4-FFF2-40B4-BE49-F238E27FC236}">
                <a16:creationId xmlns:a16="http://schemas.microsoft.com/office/drawing/2014/main" id="{7F24F83F-2CC9-CCB2-B77E-21F52F824A54}"/>
              </a:ext>
            </a:extLst>
          </p:cNvPr>
          <p:cNvPicPr/>
          <p:nvPr/>
        </p:nvPicPr>
        <p:blipFill>
          <a:blip r:embed="rId49" cstate="print"/>
          <a:stretch>
            <a:fillRect/>
          </a:stretch>
        </p:blipFill>
        <p:spPr>
          <a:xfrm>
            <a:off x="16432232" y="509107"/>
            <a:ext cx="900215" cy="41653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473</Words>
  <Application>Microsoft Office PowerPoint</Application>
  <PresentationFormat>Custom</PresentationFormat>
  <Paragraphs>103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Arial Black</vt:lpstr>
      <vt:lpstr>Georgia</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Tawazun - AI-Powered Land Classification</dc:title>
  <dc:subject>PptxGenJS Presentation</dc:subject>
  <dc:creator>Tawazun Team</dc:creator>
  <cp:lastModifiedBy>MAHMOUD RAWHI AL WAQFI</cp:lastModifiedBy>
  <cp:revision>2</cp:revision>
  <dcterms:created xsi:type="dcterms:W3CDTF">2026-04-02T19:41:51Z</dcterms:created>
  <dcterms:modified xsi:type="dcterms:W3CDTF">2026-04-02T20:25:38Z</dcterms:modified>
</cp:coreProperties>
</file>